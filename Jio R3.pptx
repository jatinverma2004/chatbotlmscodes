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4"/>
  </p:sldMasterIdLst>
  <p:notesMasterIdLst>
    <p:notesMasterId r:id="rId19"/>
  </p:notesMasterIdLst>
  <p:handoutMasterIdLst>
    <p:handoutMasterId r:id="rId20"/>
  </p:handoutMasterIdLst>
  <p:sldIdLst>
    <p:sldId id="266" r:id="rId5"/>
    <p:sldId id="267" r:id="rId6"/>
    <p:sldId id="1881" r:id="rId7"/>
    <p:sldId id="1855" r:id="rId8"/>
    <p:sldId id="1884" r:id="rId9"/>
    <p:sldId id="1885" r:id="rId10"/>
    <p:sldId id="1886" r:id="rId11"/>
    <p:sldId id="1887" r:id="rId12"/>
    <p:sldId id="1888" r:id="rId13"/>
    <p:sldId id="1889" r:id="rId14"/>
    <p:sldId id="1890" r:id="rId15"/>
    <p:sldId id="1882" r:id="rId16"/>
    <p:sldId id="1883" r:id="rId17"/>
    <p:sldId id="1879" r:id="rId18"/>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6062"/>
    <a:srgbClr val="DA31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p:cViewPr varScale="1">
        <p:scale>
          <a:sx n="78" d="100"/>
          <a:sy n="78" d="100"/>
        </p:scale>
        <p:origin x="878" y="72"/>
      </p:cViewPr>
      <p:guideLst>
        <p:guide orient="horz" pos="2160"/>
        <p:guide pos="3840"/>
      </p:guideLst>
    </p:cSldViewPr>
  </p:slideViewPr>
  <p:notesTextViewPr>
    <p:cViewPr>
      <p:scale>
        <a:sx n="100" d="100"/>
        <a:sy n="100" d="100"/>
      </p:scale>
      <p:origin x="0" y="0"/>
    </p:cViewPr>
  </p:notesTextViewPr>
  <p:notesViewPr>
    <p:cSldViewPr>
      <p:cViewPr varScale="1">
        <p:scale>
          <a:sx n="53" d="100"/>
          <a:sy n="53" d="100"/>
        </p:scale>
        <p:origin x="2796"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E6D40C89-1D2E-42C9-AD79-5E024A5F6A11}" type="datetimeFigureOut">
              <a:rPr lang="en-US" smtClean="0"/>
              <a:pPr/>
              <a:t>5/7/2026</a:t>
            </a:fld>
            <a:endParaRPr lang="en-US" dirty="0"/>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E5CA20F1-9B12-4236-A14C-758ACCB4D1AF}" type="slidenum">
              <a:rPr lang="en-US" smtClean="0"/>
              <a:pPr/>
              <a:t>‹#›</a:t>
            </a:fld>
            <a:endParaRPr lang="en-US" dirty="0"/>
          </a:p>
        </p:txBody>
      </p:sp>
    </p:spTree>
    <p:extLst>
      <p:ext uri="{BB962C8B-B14F-4D97-AF65-F5344CB8AC3E}">
        <p14:creationId xmlns:p14="http://schemas.microsoft.com/office/powerpoint/2010/main" val="552360876"/>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7B61CB86-BEE3-4DB7-A266-59DAD553B236}" type="datetimeFigureOut">
              <a:rPr lang="en-IN" smtClean="0"/>
              <a:pPr/>
              <a:t>07-05-2026</a:t>
            </a:fld>
            <a:endParaRPr lang="en-IN" dirty="0"/>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IN"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IN"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307C1086-E94F-44D0-9E39-85AA8FC12ABE}" type="slidenum">
              <a:rPr lang="en-IN" smtClean="0"/>
              <a:pPr/>
              <a:t>‹#›</a:t>
            </a:fld>
            <a:endParaRPr lang="en-IN" dirty="0"/>
          </a:p>
        </p:txBody>
      </p:sp>
    </p:spTree>
    <p:extLst>
      <p:ext uri="{BB962C8B-B14F-4D97-AF65-F5344CB8AC3E}">
        <p14:creationId xmlns:p14="http://schemas.microsoft.com/office/powerpoint/2010/main" val="544874691"/>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4: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a:solidFill>
                <a:schemeClr val="dk1"/>
              </a:solidFill>
              <a:latin typeface="Calibri"/>
              <a:ea typeface="Calibri"/>
              <a:cs typeface="Calibri"/>
              <a:sym typeface="Calibri"/>
            </a:endParaRPr>
          </a:p>
        </p:txBody>
      </p:sp>
      <p:sp>
        <p:nvSpPr>
          <p:cNvPr id="163" name="Google Shape;16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5: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a:solidFill>
                <a:schemeClr val="dk1"/>
              </a:solidFill>
              <a:latin typeface="Calibri"/>
              <a:ea typeface="Calibri"/>
              <a:cs typeface="Calibri"/>
              <a:sym typeface="Calibri"/>
            </a:endParaRPr>
          </a:p>
        </p:txBody>
      </p:sp>
      <p:sp>
        <p:nvSpPr>
          <p:cNvPr id="171" name="Google Shape;17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A8515A89-00DE-6FED-1313-3CCEBA1B6810}"/>
            </a:ext>
          </a:extLst>
        </p:cNvPr>
        <p:cNvGrpSpPr/>
        <p:nvPr/>
      </p:nvGrpSpPr>
      <p:grpSpPr>
        <a:xfrm>
          <a:off x="0" y="0"/>
          <a:ext cx="0" cy="0"/>
          <a:chOff x="0" y="0"/>
          <a:chExt cx="0" cy="0"/>
        </a:xfrm>
      </p:grpSpPr>
      <p:sp>
        <p:nvSpPr>
          <p:cNvPr id="170" name="Google Shape;170;p15:notes">
            <a:extLst>
              <a:ext uri="{FF2B5EF4-FFF2-40B4-BE49-F238E27FC236}">
                <a16:creationId xmlns:a16="http://schemas.microsoft.com/office/drawing/2014/main" id="{6707D069-1130-FF46-25BF-8C4E7AF03AD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a:solidFill>
                <a:schemeClr val="dk1"/>
              </a:solidFill>
              <a:latin typeface="Calibri"/>
              <a:ea typeface="Calibri"/>
              <a:cs typeface="Calibri"/>
              <a:sym typeface="Calibri"/>
            </a:endParaRPr>
          </a:p>
        </p:txBody>
      </p:sp>
      <p:sp>
        <p:nvSpPr>
          <p:cNvPr id="171" name="Google Shape;171;p15:notes">
            <a:extLst>
              <a:ext uri="{FF2B5EF4-FFF2-40B4-BE49-F238E27FC236}">
                <a16:creationId xmlns:a16="http://schemas.microsoft.com/office/drawing/2014/main" id="{25348E76-697D-6392-5CBC-96B6FFB8007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828294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5978960-B552-44AC-8204-0D58B7D9F8D5}" type="datetime1">
              <a:rPr lang="en-US" smtClean="0"/>
              <a:t>5/7/2026</a:t>
            </a:fld>
            <a:endParaRPr lang="en-IN" dirty="0"/>
          </a:p>
        </p:txBody>
      </p:sp>
      <p:sp>
        <p:nvSpPr>
          <p:cNvPr id="5" name="Footer Placeholder 4"/>
          <p:cNvSpPr>
            <a:spLocks noGrp="1"/>
          </p:cNvSpPr>
          <p:nvPr>
            <p:ph type="ftr" sz="quarter" idx="11"/>
          </p:nvPr>
        </p:nvSpPr>
        <p:spPr/>
        <p:txBody>
          <a:bodyPr/>
          <a:lstStyle/>
          <a:p>
            <a:r>
              <a:rPr lang="en-US"/>
              <a:t>Capstone Project Review, AY 25-26, STME, NMIMS Navi Mumbai</a:t>
            </a:r>
            <a:endParaRPr lang="en-IN" dirty="0"/>
          </a:p>
        </p:txBody>
      </p:sp>
      <p:sp>
        <p:nvSpPr>
          <p:cNvPr id="6" name="Slide Number Placeholder 5"/>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185630893"/>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52151" y="1342408"/>
            <a:ext cx="10515600" cy="873911"/>
          </a:xfrm>
        </p:spPr>
        <p:txBody>
          <a:bodyPr/>
          <a:lstStyle/>
          <a:p>
            <a:r>
              <a:rPr lang="en-US"/>
              <a:t>Click to edit Master title style</a:t>
            </a:r>
            <a:endParaRPr lang="en-US" dirty="0"/>
          </a:p>
        </p:txBody>
      </p:sp>
      <p:sp>
        <p:nvSpPr>
          <p:cNvPr id="3" name="Content Placeholder 2"/>
          <p:cNvSpPr>
            <a:spLocks noGrp="1"/>
          </p:cNvSpPr>
          <p:nvPr>
            <p:ph idx="1"/>
          </p:nvPr>
        </p:nvSpPr>
        <p:spPr>
          <a:xfrm>
            <a:off x="838200" y="2276871"/>
            <a:ext cx="10515600" cy="390009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E1CC72-C4BC-44F6-A4B8-F073387FA3E8}" type="datetime1">
              <a:rPr lang="en-US" smtClean="0"/>
              <a:t>5/7/2026</a:t>
            </a:fld>
            <a:endParaRPr lang="en-IN" dirty="0"/>
          </a:p>
        </p:txBody>
      </p:sp>
      <p:sp>
        <p:nvSpPr>
          <p:cNvPr id="5" name="Footer Placeholder 4"/>
          <p:cNvSpPr>
            <a:spLocks noGrp="1"/>
          </p:cNvSpPr>
          <p:nvPr>
            <p:ph type="ftr" sz="quarter" idx="11"/>
          </p:nvPr>
        </p:nvSpPr>
        <p:spPr/>
        <p:txBody>
          <a:bodyPr/>
          <a:lstStyle/>
          <a:p>
            <a:r>
              <a:rPr lang="en-US"/>
              <a:t>Capstone Project Review, AY 25-26, STME, NMIMS Navi Mumbai</a:t>
            </a:r>
            <a:endParaRPr lang="en-IN" dirty="0"/>
          </a:p>
        </p:txBody>
      </p:sp>
      <p:sp>
        <p:nvSpPr>
          <p:cNvPr id="6" name="Slide Number Placeholder 5"/>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122393672"/>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5522982-2ECF-49E2-803E-39684D079ECF}" type="datetime1">
              <a:rPr lang="en-US" smtClean="0"/>
              <a:t>5/7/2026</a:t>
            </a:fld>
            <a:endParaRPr lang="en-IN" dirty="0"/>
          </a:p>
        </p:txBody>
      </p:sp>
      <p:sp>
        <p:nvSpPr>
          <p:cNvPr id="5" name="Footer Placeholder 4"/>
          <p:cNvSpPr>
            <a:spLocks noGrp="1"/>
          </p:cNvSpPr>
          <p:nvPr>
            <p:ph type="ftr" sz="quarter" idx="11"/>
          </p:nvPr>
        </p:nvSpPr>
        <p:spPr/>
        <p:txBody>
          <a:bodyPr/>
          <a:lstStyle/>
          <a:p>
            <a:r>
              <a:rPr lang="en-US"/>
              <a:t>Capstone Project Review, AY 25-26, STME, NMIMS Navi Mumbai</a:t>
            </a:r>
            <a:endParaRPr lang="en-IN" dirty="0"/>
          </a:p>
        </p:txBody>
      </p:sp>
      <p:sp>
        <p:nvSpPr>
          <p:cNvPr id="6" name="Slide Number Placeholder 5"/>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3501101292"/>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BA58397-A5C8-45A3-9F3C-826B6662D586}" type="datetime1">
              <a:rPr lang="en-US" smtClean="0"/>
              <a:t>5/7/2026</a:t>
            </a:fld>
            <a:endParaRPr lang="en-IN" dirty="0"/>
          </a:p>
        </p:txBody>
      </p:sp>
      <p:sp>
        <p:nvSpPr>
          <p:cNvPr id="6" name="Footer Placeholder 5"/>
          <p:cNvSpPr>
            <a:spLocks noGrp="1"/>
          </p:cNvSpPr>
          <p:nvPr>
            <p:ph type="ftr" sz="quarter" idx="11"/>
          </p:nvPr>
        </p:nvSpPr>
        <p:spPr/>
        <p:txBody>
          <a:bodyPr/>
          <a:lstStyle/>
          <a:p>
            <a:r>
              <a:rPr lang="en-US"/>
              <a:t>Capstone Project Review, AY 25-26, STME, NMIMS Navi Mumbai</a:t>
            </a:r>
            <a:endParaRPr lang="en-IN" dirty="0"/>
          </a:p>
        </p:txBody>
      </p:sp>
      <p:sp>
        <p:nvSpPr>
          <p:cNvPr id="7" name="Slide Number Placeholder 6"/>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3800915900"/>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FB2C4BE-9BD3-4C56-BD42-99EB99CF23D6}" type="datetime1">
              <a:rPr lang="en-US" smtClean="0"/>
              <a:t>5/7/2026</a:t>
            </a:fld>
            <a:endParaRPr lang="en-IN" dirty="0"/>
          </a:p>
        </p:txBody>
      </p:sp>
      <p:sp>
        <p:nvSpPr>
          <p:cNvPr id="8" name="Footer Placeholder 7"/>
          <p:cNvSpPr>
            <a:spLocks noGrp="1"/>
          </p:cNvSpPr>
          <p:nvPr>
            <p:ph type="ftr" sz="quarter" idx="11"/>
          </p:nvPr>
        </p:nvSpPr>
        <p:spPr/>
        <p:txBody>
          <a:bodyPr/>
          <a:lstStyle/>
          <a:p>
            <a:r>
              <a:rPr lang="en-US"/>
              <a:t>Capstone Project Review, AY 25-26, STME, NMIMS Navi Mumbai</a:t>
            </a:r>
            <a:endParaRPr lang="en-IN" dirty="0"/>
          </a:p>
        </p:txBody>
      </p:sp>
      <p:sp>
        <p:nvSpPr>
          <p:cNvPr id="9" name="Slide Number Placeholder 8"/>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1596101569"/>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EB1AC14-9341-4C43-889D-F1AB646BCFDE}" type="datetime1">
              <a:rPr lang="en-US" smtClean="0"/>
              <a:t>5/7/2026</a:t>
            </a:fld>
            <a:endParaRPr lang="en-IN" dirty="0"/>
          </a:p>
        </p:txBody>
      </p:sp>
      <p:sp>
        <p:nvSpPr>
          <p:cNvPr id="4" name="Footer Placeholder 3"/>
          <p:cNvSpPr>
            <a:spLocks noGrp="1"/>
          </p:cNvSpPr>
          <p:nvPr>
            <p:ph type="ftr" sz="quarter" idx="11"/>
          </p:nvPr>
        </p:nvSpPr>
        <p:spPr/>
        <p:txBody>
          <a:bodyPr/>
          <a:lstStyle/>
          <a:p>
            <a:r>
              <a:rPr lang="en-US"/>
              <a:t>Capstone Project Review, AY 25-26, STME, NMIMS Navi Mumbai</a:t>
            </a:r>
            <a:endParaRPr lang="en-IN" dirty="0"/>
          </a:p>
        </p:txBody>
      </p:sp>
      <p:sp>
        <p:nvSpPr>
          <p:cNvPr id="5" name="Slide Number Placeholder 4"/>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3766992686"/>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AEBA16-2656-4F7D-ABD2-9F6D44E5E133}" type="datetime1">
              <a:rPr lang="en-US" smtClean="0"/>
              <a:t>5/7/2026</a:t>
            </a:fld>
            <a:endParaRPr lang="en-IN" dirty="0"/>
          </a:p>
        </p:txBody>
      </p:sp>
      <p:sp>
        <p:nvSpPr>
          <p:cNvPr id="3" name="Footer Placeholder 2"/>
          <p:cNvSpPr>
            <a:spLocks noGrp="1"/>
          </p:cNvSpPr>
          <p:nvPr>
            <p:ph type="ftr" sz="quarter" idx="11"/>
          </p:nvPr>
        </p:nvSpPr>
        <p:spPr/>
        <p:txBody>
          <a:bodyPr/>
          <a:lstStyle/>
          <a:p>
            <a:r>
              <a:rPr lang="en-US"/>
              <a:t>Capstone Project Review, AY 25-26, STME, NMIMS Navi Mumbai</a:t>
            </a:r>
            <a:endParaRPr lang="en-IN" dirty="0"/>
          </a:p>
        </p:txBody>
      </p:sp>
      <p:sp>
        <p:nvSpPr>
          <p:cNvPr id="4" name="Slide Number Placeholder 3"/>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2646325064"/>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0D65B27-835E-4215-B91B-885E1016A47B}" type="datetime1">
              <a:rPr lang="en-US" smtClean="0"/>
              <a:t>5/7/2026</a:t>
            </a:fld>
            <a:endParaRPr lang="en-IN" dirty="0"/>
          </a:p>
        </p:txBody>
      </p:sp>
      <p:sp>
        <p:nvSpPr>
          <p:cNvPr id="6" name="Footer Placeholder 5"/>
          <p:cNvSpPr>
            <a:spLocks noGrp="1"/>
          </p:cNvSpPr>
          <p:nvPr>
            <p:ph type="ftr" sz="quarter" idx="11"/>
          </p:nvPr>
        </p:nvSpPr>
        <p:spPr/>
        <p:txBody>
          <a:bodyPr/>
          <a:lstStyle/>
          <a:p>
            <a:r>
              <a:rPr lang="en-US"/>
              <a:t>Capstone Project Review, AY 25-26, STME, NMIMS Navi Mumbai</a:t>
            </a:r>
            <a:endParaRPr lang="en-IN" dirty="0"/>
          </a:p>
        </p:txBody>
      </p:sp>
      <p:sp>
        <p:nvSpPr>
          <p:cNvPr id="7" name="Slide Number Placeholder 6"/>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3921857361"/>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9B2C77F-DFBE-4F62-96A0-F702CC47EC96}" type="datetime1">
              <a:rPr lang="en-US" smtClean="0"/>
              <a:t>5/7/2026</a:t>
            </a:fld>
            <a:endParaRPr lang="en-IN" dirty="0"/>
          </a:p>
        </p:txBody>
      </p:sp>
      <p:sp>
        <p:nvSpPr>
          <p:cNvPr id="6" name="Footer Placeholder 5"/>
          <p:cNvSpPr>
            <a:spLocks noGrp="1"/>
          </p:cNvSpPr>
          <p:nvPr>
            <p:ph type="ftr" sz="quarter" idx="11"/>
          </p:nvPr>
        </p:nvSpPr>
        <p:spPr/>
        <p:txBody>
          <a:bodyPr/>
          <a:lstStyle/>
          <a:p>
            <a:r>
              <a:rPr lang="en-US"/>
              <a:t>Capstone Project Review, AY 25-26, STME, NMIMS Navi Mumbai</a:t>
            </a:r>
            <a:endParaRPr lang="en-IN" dirty="0"/>
          </a:p>
        </p:txBody>
      </p:sp>
      <p:sp>
        <p:nvSpPr>
          <p:cNvPr id="7" name="Slide Number Placeholder 6"/>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2787240501"/>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D049446-9A6E-4F36-BB48-EE6F0348B30A}" type="datetime1">
              <a:rPr lang="en-US" smtClean="0"/>
              <a:t>5/7/2026</a:t>
            </a:fld>
            <a:endParaRPr lang="en-IN" dirty="0"/>
          </a:p>
        </p:txBody>
      </p:sp>
      <p:sp>
        <p:nvSpPr>
          <p:cNvPr id="5" name="Footer Placeholder 4"/>
          <p:cNvSpPr>
            <a:spLocks noGrp="1"/>
          </p:cNvSpPr>
          <p:nvPr>
            <p:ph type="ftr" sz="quarter" idx="11"/>
          </p:nvPr>
        </p:nvSpPr>
        <p:spPr/>
        <p:txBody>
          <a:bodyPr/>
          <a:lstStyle/>
          <a:p>
            <a:r>
              <a:rPr lang="en-US"/>
              <a:t>Capstone Project Review, AY 25-26, STME, NMIMS Navi Mumbai</a:t>
            </a:r>
            <a:endParaRPr lang="en-IN" dirty="0"/>
          </a:p>
        </p:txBody>
      </p:sp>
      <p:sp>
        <p:nvSpPr>
          <p:cNvPr id="6" name="Slide Number Placeholder 5"/>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1931254063"/>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51C186-B3DB-44CA-9B97-B6325990F615}" type="datetime1">
              <a:rPr lang="en-US" smtClean="0"/>
              <a:t>5/7/2026</a:t>
            </a:fld>
            <a:endParaRPr lang="en-IN" dirty="0"/>
          </a:p>
        </p:txBody>
      </p:sp>
      <p:sp>
        <p:nvSpPr>
          <p:cNvPr id="5" name="Footer Placeholder 4"/>
          <p:cNvSpPr>
            <a:spLocks noGrp="1"/>
          </p:cNvSpPr>
          <p:nvPr>
            <p:ph type="ftr" sz="quarter" idx="11"/>
          </p:nvPr>
        </p:nvSpPr>
        <p:spPr/>
        <p:txBody>
          <a:bodyPr/>
          <a:lstStyle/>
          <a:p>
            <a:r>
              <a:rPr lang="en-US"/>
              <a:t>Capstone Project Review, AY 25-26, STME, NMIMS Navi Mumbai</a:t>
            </a:r>
            <a:endParaRPr lang="en-IN" dirty="0"/>
          </a:p>
        </p:txBody>
      </p:sp>
      <p:sp>
        <p:nvSpPr>
          <p:cNvPr id="6" name="Slide Number Placeholder 5"/>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3717582531"/>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7844" y="864853"/>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34B4AA-F46E-45E4-A043-C77A70EF94D1}" type="datetime1">
              <a:rPr lang="en-US" smtClean="0"/>
              <a:t>5/7/2026</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Capstone Project Review, AY 25-26, STME, NMIMS Navi Mumbai</a:t>
            </a:r>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41890-78B1-446D-ACB8-09DB24EB6BC7}" type="slidenum">
              <a:rPr lang="en-IN" smtClean="0"/>
              <a:pPr/>
              <a:t>‹#›</a:t>
            </a:fld>
            <a:endParaRPr lang="en-IN" dirty="0"/>
          </a:p>
        </p:txBody>
      </p:sp>
      <p:sp>
        <p:nvSpPr>
          <p:cNvPr id="8" name="Rectangle 7"/>
          <p:cNvSpPr/>
          <p:nvPr userDrawn="1"/>
        </p:nvSpPr>
        <p:spPr>
          <a:xfrm>
            <a:off x="0" y="-13692"/>
            <a:ext cx="12211288" cy="706388"/>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p:cNvGrpSpPr/>
          <p:nvPr userDrawn="1"/>
        </p:nvGrpSpPr>
        <p:grpSpPr>
          <a:xfrm>
            <a:off x="209364" y="293871"/>
            <a:ext cx="6744072" cy="858202"/>
            <a:chOff x="119336" y="1512082"/>
            <a:chExt cx="6479501" cy="858202"/>
          </a:xfrm>
          <a:effectLst>
            <a:outerShdw blurRad="50800" dist="76200" dir="2700000" algn="tl" rotWithShape="0">
              <a:prstClr val="black">
                <a:alpha val="70000"/>
              </a:prstClr>
            </a:outerShdw>
          </a:effectLst>
        </p:grpSpPr>
        <p:sp>
          <p:nvSpPr>
            <p:cNvPr id="10" name="Rounded Rectangle 9"/>
            <p:cNvSpPr/>
            <p:nvPr/>
          </p:nvSpPr>
          <p:spPr>
            <a:xfrm>
              <a:off x="119336" y="1512082"/>
              <a:ext cx="6479501" cy="85820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91344" y="1565710"/>
              <a:ext cx="1872208" cy="786194"/>
            </a:xfrm>
            <a:prstGeom prst="rect">
              <a:avLst/>
            </a:prstGeom>
            <a:ln>
              <a:noFill/>
            </a:ln>
          </p:spPr>
        </p:pic>
      </p:grpSp>
      <p:sp>
        <p:nvSpPr>
          <p:cNvPr id="12" name="Title 1"/>
          <p:cNvSpPr txBox="1">
            <a:spLocks/>
          </p:cNvSpPr>
          <p:nvPr userDrawn="1"/>
        </p:nvSpPr>
        <p:spPr>
          <a:xfrm>
            <a:off x="2285806" y="319528"/>
            <a:ext cx="4495852" cy="7861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2400" b="1" dirty="0">
                <a:solidFill>
                  <a:srgbClr val="606062"/>
                </a:solidFill>
                <a:latin typeface="Arial Narrow" panose="020B0606020202030204" pitchFamily="34" charset="0"/>
              </a:rPr>
              <a:t>School of Technology Management &amp; Engineering | Navi Mumbai</a:t>
            </a:r>
          </a:p>
        </p:txBody>
      </p:sp>
      <p:sp>
        <p:nvSpPr>
          <p:cNvPr id="13" name="Rectangle 12"/>
          <p:cNvSpPr/>
          <p:nvPr userDrawn="1"/>
        </p:nvSpPr>
        <p:spPr>
          <a:xfrm>
            <a:off x="0" y="6772945"/>
            <a:ext cx="12211288" cy="85055"/>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Connector 13"/>
          <p:cNvCxnSpPr/>
          <p:nvPr userDrawn="1"/>
        </p:nvCxnSpPr>
        <p:spPr>
          <a:xfrm>
            <a:off x="2232966" y="319528"/>
            <a:ext cx="0" cy="814165"/>
          </a:xfrm>
          <a:prstGeom prst="line">
            <a:avLst/>
          </a:prstGeom>
          <a:ln>
            <a:solidFill>
              <a:schemeClr val="bg1">
                <a:lumMod val="75000"/>
              </a:schemeClr>
            </a:solidFill>
          </a:ln>
          <a:scene3d>
            <a:camera prst="orthographicFront"/>
            <a:lightRig rig="threePt" dir="t"/>
          </a:scene3d>
          <a:sp3d>
            <a:bevelT w="139700" prst="cross"/>
          </a:sp3d>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3357944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6" name="Picture 5">
            <a:extLst>
              <a:ext uri="{FF2B5EF4-FFF2-40B4-BE49-F238E27FC236}">
                <a16:creationId xmlns:a16="http://schemas.microsoft.com/office/drawing/2014/main" id="{CEF40B61-BEFF-B452-9A7B-39DB15F972BD}"/>
              </a:ext>
            </a:extLst>
          </p:cNvPr>
          <p:cNvPicPr>
            <a:picLocks noChangeAspect="1"/>
          </p:cNvPicPr>
          <p:nvPr/>
        </p:nvPicPr>
        <p:blipFill>
          <a:blip r:embed="rId3"/>
          <a:stretch>
            <a:fillRect/>
          </a:stretch>
        </p:blipFill>
        <p:spPr>
          <a:xfrm>
            <a:off x="1981200" y="1524000"/>
            <a:ext cx="7761765" cy="3629026"/>
          </a:xfrm>
          <a:prstGeom prst="rect">
            <a:avLst/>
          </a:prstGeom>
        </p:spPr>
      </p:pic>
      <p:sp>
        <p:nvSpPr>
          <p:cNvPr id="8" name="TextBox 7">
            <a:extLst>
              <a:ext uri="{FF2B5EF4-FFF2-40B4-BE49-F238E27FC236}">
                <a16:creationId xmlns:a16="http://schemas.microsoft.com/office/drawing/2014/main" id="{8AB864E2-C344-AF5B-8E83-D6576219E3E9}"/>
              </a:ext>
            </a:extLst>
          </p:cNvPr>
          <p:cNvSpPr txBox="1"/>
          <p:nvPr/>
        </p:nvSpPr>
        <p:spPr>
          <a:xfrm>
            <a:off x="228600" y="5359400"/>
            <a:ext cx="11734800" cy="1200329"/>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AI Chatbot for LMS Portal</a:t>
            </a:r>
          </a:p>
          <a:p>
            <a:r>
              <a:rPr lang="en-US" dirty="0">
                <a:latin typeface="Times New Roman" panose="02020603050405020304" pitchFamily="18" charset="0"/>
                <a:cs typeface="Times New Roman" panose="02020603050405020304" pitchFamily="18" charset="0"/>
              </a:rPr>
              <a:t>Reliance Jio – Associate-Intern, Soft Developer (AI Chatbot Systems) | January 2026 – July 2026</a:t>
            </a:r>
          </a:p>
          <a:p>
            <a:r>
              <a:rPr lang="en-US" dirty="0">
                <a:latin typeface="Times New Roman" panose="02020603050405020304" pitchFamily="18" charset="0"/>
                <a:cs typeface="Times New Roman" panose="02020603050405020304" pitchFamily="18" charset="0"/>
              </a:rPr>
              <a:t>Mentor : Mr. Jeetendra Pradhan and Mr. Pradeep Tiwari</a:t>
            </a:r>
          </a:p>
          <a:p>
            <a:endParaRPr lang="en-IN"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5"/>
          <p:cNvSpPr txBox="1">
            <a:spLocks noGrp="1"/>
          </p:cNvSpPr>
          <p:nvPr>
            <p:ph type="title"/>
          </p:nvPr>
        </p:nvSpPr>
        <p:spPr>
          <a:xfrm>
            <a:off x="205273" y="1455576"/>
            <a:ext cx="11758127" cy="5410200"/>
          </a:xfrm>
          <a:prstGeom prst="rect">
            <a:avLst/>
          </a:prstGeom>
          <a:noFill/>
          <a:ln>
            <a:noFill/>
          </a:ln>
        </p:spPr>
        <p:txBody>
          <a:bodyPr spcFirstLastPara="1" vert="horz" wrap="square" lIns="91425" tIns="45700" rIns="91425" bIns="45700" rtlCol="0" anchor="ctr" anchorCtr="0">
            <a:noAutofit/>
          </a:bodyPr>
          <a:lstStyle/>
          <a:p>
            <a:r>
              <a:rPr lang="en-US" sz="1800" b="1" dirty="0">
                <a:latin typeface="Times New Roman" panose="02020603050405020304" pitchFamily="18" charset="0"/>
                <a:cs typeface="Times New Roman" panose="02020603050405020304" pitchFamily="18" charset="0"/>
              </a:rPr>
              <a:t>Project Recap &amp; Evolution</a:t>
            </a:r>
            <a:br>
              <a:rPr lang="en-US" sz="1800" b="1"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project evolved through three structured phases, starting from a </a:t>
            </a:r>
            <a:r>
              <a:rPr lang="en-US" sz="1600" b="1" dirty="0">
                <a:latin typeface="Times New Roman" panose="02020603050405020304" pitchFamily="18" charset="0"/>
                <a:cs typeface="Times New Roman" panose="02020603050405020304" pitchFamily="18" charset="0"/>
              </a:rPr>
              <a:t>conceptual RAG-based </a:t>
            </a:r>
            <a:r>
              <a:rPr lang="en-US" sz="1600" dirty="0">
                <a:latin typeface="Times New Roman" panose="02020603050405020304" pitchFamily="18" charset="0"/>
                <a:cs typeface="Times New Roman" panose="02020603050405020304" pitchFamily="18" charset="0"/>
              </a:rPr>
              <a:t>design to a </a:t>
            </a:r>
            <a:r>
              <a:rPr lang="en-US" sz="1600" b="1" dirty="0">
                <a:latin typeface="Times New Roman" panose="02020603050405020304" pitchFamily="18" charset="0"/>
                <a:cs typeface="Times New Roman" panose="02020603050405020304" pitchFamily="18" charset="0"/>
              </a:rPr>
              <a:t>fully functional AI chatbot system </a:t>
            </a:r>
            <a:r>
              <a:rPr lang="en-US" sz="1600" dirty="0">
                <a:latin typeface="Times New Roman" panose="02020603050405020304" pitchFamily="18" charset="0"/>
                <a:cs typeface="Times New Roman" panose="02020603050405020304" pitchFamily="18" charset="0"/>
              </a:rPr>
              <a:t>integrated with voice and vision capabilities. Each review phase focused on enhancing </a:t>
            </a:r>
            <a:r>
              <a:rPr lang="en-US" sz="1600" b="1" dirty="0">
                <a:latin typeface="Times New Roman" panose="02020603050405020304" pitchFamily="18" charset="0"/>
                <a:cs typeface="Times New Roman" panose="02020603050405020304" pitchFamily="18" charset="0"/>
              </a:rPr>
              <a:t>system scalability, usability, and real-world applicability</a:t>
            </a:r>
            <a:r>
              <a:rPr lang="en-US" sz="1600" dirty="0">
                <a:latin typeface="Times New Roman" panose="02020603050405020304" pitchFamily="18" charset="0"/>
                <a:cs typeface="Times New Roman" panose="02020603050405020304" pitchFamily="18" charset="0"/>
              </a:rPr>
              <a:t>, ultimately transforming the solution into a </a:t>
            </a:r>
            <a:r>
              <a:rPr lang="en-US" sz="1600" b="1" dirty="0">
                <a:latin typeface="Times New Roman" panose="02020603050405020304" pitchFamily="18" charset="0"/>
                <a:cs typeface="Times New Roman" panose="02020603050405020304" pitchFamily="18" charset="0"/>
              </a:rPr>
              <a:t>production-ready enterprise-grade platform</a:t>
            </a:r>
            <a:r>
              <a:rPr lang="en-US" sz="1600" dirty="0">
                <a:latin typeface="Times New Roman" panose="02020603050405020304" pitchFamily="18" charset="0"/>
                <a:cs typeface="Times New Roman" panose="02020603050405020304" pitchFamily="18" charset="0"/>
              </a:rPr>
              <a:t>.</a:t>
            </a:r>
            <a:br>
              <a:rPr lang="en-US" sz="1800" dirty="0">
                <a:latin typeface="Times New Roman" panose="02020603050405020304" pitchFamily="18" charset="0"/>
                <a:cs typeface="Times New Roman" panose="02020603050405020304" pitchFamily="18" charset="0"/>
              </a:rPr>
            </a:b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Project Phases</a:t>
            </a:r>
            <a:br>
              <a:rPr lang="en-US" sz="14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Review 1:</a:t>
            </a:r>
            <a:r>
              <a:rPr lang="en-US" sz="1400" dirty="0">
                <a:latin typeface="Times New Roman" panose="02020603050405020304" pitchFamily="18" charset="0"/>
                <a:cs typeface="Times New Roman" panose="02020603050405020304" pitchFamily="18" charset="0"/>
              </a:rPr>
              <a:t> RAG architecture design and foundational system planning </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Review 2:</a:t>
            </a:r>
            <a:r>
              <a:rPr lang="en-US" sz="1400" dirty="0">
                <a:latin typeface="Times New Roman" panose="02020603050405020304" pitchFamily="18" charset="0"/>
                <a:cs typeface="Times New Roman" panose="02020603050405020304" pitchFamily="18" charset="0"/>
              </a:rPr>
              <a:t> Backend development using </a:t>
            </a:r>
            <a:r>
              <a:rPr lang="en-US" sz="1400" dirty="0" err="1">
                <a:latin typeface="Times New Roman" panose="02020603050405020304" pitchFamily="18" charset="0"/>
                <a:cs typeface="Times New Roman" panose="02020603050405020304" pitchFamily="18" charset="0"/>
              </a:rPr>
              <a:t>FastAPI</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Review 3:</a:t>
            </a:r>
            <a:r>
              <a:rPr lang="en-US" sz="1400" dirty="0">
                <a:latin typeface="Times New Roman" panose="02020603050405020304" pitchFamily="18" charset="0"/>
                <a:cs typeface="Times New Roman" panose="02020603050405020304" pitchFamily="18" charset="0"/>
              </a:rPr>
              <a:t> Full system integration with Voice, Vision AI,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and React frontend implementation and MongoDB </a:t>
            </a:r>
            <a:br>
              <a:rPr lang="en-US" sz="1400" dirty="0">
                <a:latin typeface="Times New Roman" panose="02020603050405020304" pitchFamily="18" charset="0"/>
                <a:cs typeface="Times New Roman" panose="02020603050405020304" pitchFamily="18" charset="0"/>
              </a:rPr>
            </a:b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Key Transition: Review 1 → Review 2</a:t>
            </a:r>
            <a:br>
              <a:rPr lang="en-US" sz="1400" b="1"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Transition from </a:t>
            </a:r>
            <a:r>
              <a:rPr lang="en-US" sz="1400" b="1" dirty="0" err="1">
                <a:latin typeface="Times New Roman" panose="02020603050405020304" pitchFamily="18" charset="0"/>
                <a:cs typeface="Times New Roman" panose="02020603050405020304" pitchFamily="18" charset="0"/>
              </a:rPr>
              <a:t>Langflow</a:t>
            </a:r>
            <a:r>
              <a:rPr lang="en-US" sz="1400" b="1" dirty="0">
                <a:latin typeface="Times New Roman" panose="02020603050405020304" pitchFamily="18" charset="0"/>
                <a:cs typeface="Times New Roman" panose="02020603050405020304" pitchFamily="18" charset="0"/>
              </a:rPr>
              <a:t> to direct </a:t>
            </a:r>
            <a:r>
              <a:rPr lang="en-US" sz="1400" b="1" dirty="0" err="1">
                <a:latin typeface="Times New Roman" panose="02020603050405020304" pitchFamily="18" charset="0"/>
                <a:cs typeface="Times New Roman" panose="02020603050405020304" pitchFamily="18" charset="0"/>
              </a:rPr>
              <a:t>FastAPI</a:t>
            </a:r>
            <a:r>
              <a:rPr lang="en-US" sz="1400" b="1" dirty="0">
                <a:latin typeface="Times New Roman" panose="02020603050405020304" pitchFamily="18" charset="0"/>
                <a:cs typeface="Times New Roman" panose="02020603050405020304" pitchFamily="18" charset="0"/>
              </a:rPr>
              <a:t>-based architecture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Development of </a:t>
            </a:r>
            <a:r>
              <a:rPr lang="en-US" sz="1400" b="1" dirty="0">
                <a:latin typeface="Times New Roman" panose="02020603050405020304" pitchFamily="18" charset="0"/>
                <a:cs typeface="Times New Roman" panose="02020603050405020304" pitchFamily="18" charset="0"/>
              </a:rPr>
              <a:t>MCP V3 Server with structured APIs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Replacement of basic UI with </a:t>
            </a:r>
            <a:r>
              <a:rPr lang="en-US" sz="1400" b="1" dirty="0">
                <a:latin typeface="Times New Roman" panose="02020603050405020304" pitchFamily="18" charset="0"/>
                <a:cs typeface="Times New Roman" panose="02020603050405020304" pitchFamily="18" charset="0"/>
              </a:rPr>
              <a:t>React production frontend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Implementation of </a:t>
            </a:r>
            <a:r>
              <a:rPr lang="en-US" sz="1400" b="1" dirty="0">
                <a:latin typeface="Times New Roman" panose="02020603050405020304" pitchFamily="18" charset="0"/>
                <a:cs typeface="Times New Roman" panose="02020603050405020304" pitchFamily="18" charset="0"/>
              </a:rPr>
              <a:t>role-based SOP routing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Introduction of </a:t>
            </a:r>
            <a:r>
              <a:rPr lang="en-US" sz="1400" b="1" dirty="0">
                <a:latin typeface="Times New Roman" panose="02020603050405020304" pitchFamily="18" charset="0"/>
                <a:cs typeface="Times New Roman" panose="02020603050405020304" pitchFamily="18" charset="0"/>
              </a:rPr>
              <a:t>real-time evaluation system </a:t>
            </a:r>
            <a:br>
              <a:rPr lang="en-US" sz="1400" dirty="0">
                <a:latin typeface="Times New Roman" panose="02020603050405020304" pitchFamily="18" charset="0"/>
                <a:cs typeface="Times New Roman" panose="02020603050405020304" pitchFamily="18" charset="0"/>
              </a:rPr>
            </a:b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Key Transition: Review 2 → Review 3</a:t>
            </a:r>
            <a:br>
              <a:rPr lang="en-US" sz="14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Migration</a:t>
            </a:r>
            <a:r>
              <a:rPr lang="en-US" sz="1400" dirty="0">
                <a:latin typeface="Times New Roman" panose="02020603050405020304" pitchFamily="18" charset="0"/>
                <a:cs typeface="Times New Roman" panose="02020603050405020304" pitchFamily="18" charset="0"/>
              </a:rPr>
              <a:t> from SQLite to MongoDB for scalability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Integration of </a:t>
            </a:r>
            <a:r>
              <a:rPr lang="en-US" sz="1400" b="1" dirty="0">
                <a:latin typeface="Times New Roman" panose="02020603050405020304" pitchFamily="18" charset="0"/>
                <a:cs typeface="Times New Roman" panose="02020603050405020304" pitchFamily="18" charset="0"/>
              </a:rPr>
              <a:t>multi-format</a:t>
            </a:r>
            <a:r>
              <a:rPr lang="en-US" sz="1400" dirty="0">
                <a:latin typeface="Times New Roman" panose="02020603050405020304" pitchFamily="18" charset="0"/>
                <a:cs typeface="Times New Roman" panose="02020603050405020304" pitchFamily="18" charset="0"/>
              </a:rPr>
              <a:t> file upload (12 types supported)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Implementation of </a:t>
            </a:r>
            <a:r>
              <a:rPr lang="en-US" sz="1400" b="1" dirty="0">
                <a:latin typeface="Times New Roman" panose="02020603050405020304" pitchFamily="18" charset="0"/>
                <a:cs typeface="Times New Roman" panose="02020603050405020304" pitchFamily="18" charset="0"/>
              </a:rPr>
              <a:t>Vision AI </a:t>
            </a:r>
            <a:r>
              <a:rPr lang="en-US" sz="1400" dirty="0">
                <a:latin typeface="Times New Roman" panose="02020603050405020304" pitchFamily="18" charset="0"/>
                <a:cs typeface="Times New Roman" panose="02020603050405020304" pitchFamily="18" charset="0"/>
              </a:rPr>
              <a:t>for image understanding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Addition of </a:t>
            </a:r>
            <a:r>
              <a:rPr lang="en-US" sz="1400" b="1" dirty="0">
                <a:latin typeface="Times New Roman" panose="02020603050405020304" pitchFamily="18" charset="0"/>
                <a:cs typeface="Times New Roman" panose="02020603050405020304" pitchFamily="18" charset="0"/>
              </a:rPr>
              <a:t>voice interaction </a:t>
            </a:r>
            <a:r>
              <a:rPr lang="en-US" sz="1400" dirty="0">
                <a:latin typeface="Times New Roman" panose="02020603050405020304" pitchFamily="18" charset="0"/>
                <a:cs typeface="Times New Roman" panose="02020603050405020304" pitchFamily="18" charset="0"/>
              </a:rPr>
              <a:t>using Web Speech API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UI redesign aligned with enterprise (Jio) standards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Introduction of </a:t>
            </a:r>
            <a:r>
              <a:rPr lang="en-US" sz="1400" b="1" dirty="0">
                <a:latin typeface="Times New Roman" panose="02020603050405020304" pitchFamily="18" charset="0"/>
                <a:cs typeface="Times New Roman" panose="02020603050405020304" pitchFamily="18" charset="0"/>
              </a:rPr>
              <a:t>OCR and document ingestion pipeline </a:t>
            </a:r>
            <a:br>
              <a:rPr lang="en-US" sz="1400" dirty="0">
                <a:latin typeface="Times New Roman" panose="02020603050405020304" pitchFamily="18" charset="0"/>
                <a:cs typeface="Times New Roman" panose="02020603050405020304" pitchFamily="18" charset="0"/>
              </a:rPr>
            </a:br>
            <a:endParaRPr sz="1800" b="1"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76" name="Google Shape;176;p15"/>
          <p:cNvSpPr txBox="1">
            <a:spLocks noGrp="1"/>
          </p:cNvSpPr>
          <p:nvPr>
            <p:ph type="sldNum" idx="12"/>
          </p:nvPr>
        </p:nvSpPr>
        <p:spPr>
          <a:xfrm>
            <a:off x="8077200" y="6373547"/>
            <a:ext cx="2133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050"/>
            </a:pPr>
            <a:fld id="{00000000-1234-1234-1234-123412341234}" type="slidenum">
              <a:rPr lang="en-IN" sz="1050">
                <a:solidFill>
                  <a:srgbClr val="888888"/>
                </a:solidFill>
                <a:latin typeface="Calibri"/>
                <a:ea typeface="Calibri"/>
                <a:cs typeface="Calibri"/>
                <a:sym typeface="Calibri"/>
              </a:rPr>
              <a:pPr>
                <a:buClr>
                  <a:srgbClr val="000000"/>
                </a:buClr>
                <a:buSzPts val="1050"/>
              </a:pPr>
              <a:t>2</a:t>
            </a:fld>
            <a:endParaRPr sz="1050">
              <a:solidFill>
                <a:srgbClr val="888888"/>
              </a:solidFill>
              <a:latin typeface="Calibri"/>
              <a:ea typeface="Calibri"/>
              <a:cs typeface="Calibri"/>
              <a:sym typeface="Calibri"/>
            </a:endParaRPr>
          </a:p>
        </p:txBody>
      </p:sp>
      <p:pic>
        <p:nvPicPr>
          <p:cNvPr id="7" name="Picture 6">
            <a:extLst>
              <a:ext uri="{FF2B5EF4-FFF2-40B4-BE49-F238E27FC236}">
                <a16:creationId xmlns:a16="http://schemas.microsoft.com/office/drawing/2014/main" id="{2E534D80-C34A-A8D2-38FE-2140E27805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16247" y="2971800"/>
            <a:ext cx="6775754" cy="361478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2">
          <a:extLst>
            <a:ext uri="{FF2B5EF4-FFF2-40B4-BE49-F238E27FC236}">
              <a16:creationId xmlns:a16="http://schemas.microsoft.com/office/drawing/2014/main" id="{DE88535A-84EA-EF32-0DC6-144821F56AC4}"/>
            </a:ext>
          </a:extLst>
        </p:cNvPr>
        <p:cNvGrpSpPr/>
        <p:nvPr/>
      </p:nvGrpSpPr>
      <p:grpSpPr>
        <a:xfrm>
          <a:off x="0" y="0"/>
          <a:ext cx="0" cy="0"/>
          <a:chOff x="0" y="0"/>
          <a:chExt cx="0" cy="0"/>
        </a:xfrm>
      </p:grpSpPr>
      <p:sp>
        <p:nvSpPr>
          <p:cNvPr id="176" name="Google Shape;176;p15">
            <a:extLst>
              <a:ext uri="{FF2B5EF4-FFF2-40B4-BE49-F238E27FC236}">
                <a16:creationId xmlns:a16="http://schemas.microsoft.com/office/drawing/2014/main" id="{D48918AF-F62D-5017-FDFC-B601EFFE5B9E}"/>
              </a:ext>
            </a:extLst>
          </p:cNvPr>
          <p:cNvSpPr txBox="1">
            <a:spLocks noGrp="1"/>
          </p:cNvSpPr>
          <p:nvPr>
            <p:ph type="sldNum" idx="12"/>
          </p:nvPr>
        </p:nvSpPr>
        <p:spPr>
          <a:xfrm>
            <a:off x="8077200" y="6373547"/>
            <a:ext cx="2133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050"/>
            </a:pPr>
            <a:fld id="{00000000-1234-1234-1234-123412341234}" type="slidenum">
              <a:rPr lang="en-IN" sz="1050">
                <a:solidFill>
                  <a:srgbClr val="888888"/>
                </a:solidFill>
                <a:latin typeface="Calibri"/>
                <a:ea typeface="Calibri"/>
                <a:cs typeface="Calibri"/>
                <a:sym typeface="Calibri"/>
              </a:rPr>
              <a:pPr>
                <a:buClr>
                  <a:srgbClr val="000000"/>
                </a:buClr>
                <a:buSzPts val="1050"/>
              </a:pPr>
              <a:t>3</a:t>
            </a:fld>
            <a:endParaRPr sz="1050">
              <a:solidFill>
                <a:srgbClr val="888888"/>
              </a:solidFill>
              <a:latin typeface="Calibri"/>
              <a:ea typeface="Calibri"/>
              <a:cs typeface="Calibri"/>
              <a:sym typeface="Calibri"/>
            </a:endParaRPr>
          </a:p>
        </p:txBody>
      </p:sp>
      <p:sp>
        <p:nvSpPr>
          <p:cNvPr id="3" name="TextBox 2">
            <a:extLst>
              <a:ext uri="{FF2B5EF4-FFF2-40B4-BE49-F238E27FC236}">
                <a16:creationId xmlns:a16="http://schemas.microsoft.com/office/drawing/2014/main" id="{DC2DD0B2-7950-B8CD-72EB-C1DD7AC26B5E}"/>
              </a:ext>
            </a:extLst>
          </p:cNvPr>
          <p:cNvSpPr txBox="1"/>
          <p:nvPr/>
        </p:nvSpPr>
        <p:spPr>
          <a:xfrm>
            <a:off x="381000" y="1371600"/>
            <a:ext cx="11277600" cy="5001947"/>
          </a:xfrm>
          <a:prstGeom prst="rect">
            <a:avLst/>
          </a:prstGeom>
          <a:noFill/>
        </p:spPr>
        <p:txBody>
          <a:bodyPr wrap="square" rtlCol="0">
            <a:spAutoFit/>
          </a:bodyPr>
          <a:lstStyle/>
          <a:p>
            <a:endParaRPr lang="en-IN" dirty="0"/>
          </a:p>
        </p:txBody>
      </p:sp>
      <p:sp>
        <p:nvSpPr>
          <p:cNvPr id="4" name="Rectangle 2">
            <a:extLst>
              <a:ext uri="{FF2B5EF4-FFF2-40B4-BE49-F238E27FC236}">
                <a16:creationId xmlns:a16="http://schemas.microsoft.com/office/drawing/2014/main" id="{4337D5A0-3E30-9C68-15A5-0C03D9FECA0C}"/>
              </a:ext>
            </a:extLst>
          </p:cNvPr>
          <p:cNvSpPr>
            <a:spLocks noChangeArrowheads="1"/>
          </p:cNvSpPr>
          <p:nvPr/>
        </p:nvSpPr>
        <p:spPr bwMode="auto">
          <a:xfrm>
            <a:off x="223520" y="1164134"/>
            <a:ext cx="52578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Architecture (Final)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follows a microservices-based architecture designed to ensure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scalability, flexibility, and efficient separation of responsibilities across components.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consists of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three primary layers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React-based frontend </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a:t>
            </a:r>
            <a:r>
              <a:rPr kumimoji="0" lang="en-US" altLang="en-US" sz="1400"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interaction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Chatbot service </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responsible for </a:t>
            </a:r>
            <a:r>
              <a:rPr kumimoji="0" lang="en-US" altLang="en-US" sz="1400"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handling AI-driven processing and response generation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an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MCP V3 server </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that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manages data, user profiles, and system-level operations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t>
            </a:r>
            <a:r>
              <a:rPr kumimoji="0" lang="en-US" altLang="en-US" sz="1400"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frontend enables </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features such as chat, voice interaction, file uploads, and dashboard access, providing a seamless and responsive user experience.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Chatbot service, built using </a:t>
            </a:r>
            <a:r>
              <a:rPr kumimoji="0" lang="en-US" altLang="en-US" sz="1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FastAPI</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integrates with advanced language and vision models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process both text and image inputs while leveraging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RAG-based logic </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deliver contextually accurate responses.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MCP V3 server </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acts as the backbone of the system</a:t>
            </a:r>
            <a:r>
              <a:rPr kumimoji="0" lang="en-US" altLang="en-US" sz="1400"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handling SOP storage, user-role mapping, and overall data management through MongoDB</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which is structured into multiple collections for optimized performance. </a:t>
            </a:r>
            <a:endParaRPr lang="en-US" altLang="en-US" sz="1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modular architecture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allows independent scaling of services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easier maintenance, and efficient communication between components, making the system robust and production-ready</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pic>
        <p:nvPicPr>
          <p:cNvPr id="7" name="Picture 6">
            <a:extLst>
              <a:ext uri="{FF2B5EF4-FFF2-40B4-BE49-F238E27FC236}">
                <a16:creationId xmlns:a16="http://schemas.microsoft.com/office/drawing/2014/main" id="{7CB52E73-F9F2-0820-99E0-262F1DF09E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400" y="1673926"/>
            <a:ext cx="6656904" cy="4437936"/>
          </a:xfrm>
          <a:prstGeom prst="rect">
            <a:avLst/>
          </a:prstGeom>
        </p:spPr>
      </p:pic>
    </p:spTree>
    <p:extLst>
      <p:ext uri="{BB962C8B-B14F-4D97-AF65-F5344CB8AC3E}">
        <p14:creationId xmlns:p14="http://schemas.microsoft.com/office/powerpoint/2010/main" val="353971914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A9B5F-9C61-D000-3E37-8E3A45D0771E}"/>
              </a:ext>
            </a:extLst>
          </p:cNvPr>
          <p:cNvSpPr>
            <a:spLocks noGrp="1"/>
          </p:cNvSpPr>
          <p:nvPr>
            <p:ph type="title"/>
          </p:nvPr>
        </p:nvSpPr>
        <p:spPr>
          <a:xfrm>
            <a:off x="1661160" y="1371600"/>
            <a:ext cx="10515600" cy="873911"/>
          </a:xfrm>
        </p:spPr>
        <p:txBody>
          <a:bodyPr>
            <a:noAutofit/>
          </a:bodyPr>
          <a:lstStyle/>
          <a:p>
            <a:r>
              <a:rPr lang="en-US" sz="3600" b="1" dirty="0">
                <a:latin typeface="Times New Roman" panose="02020603050405020304" pitchFamily="18" charset="0"/>
                <a:cs typeface="Times New Roman" panose="02020603050405020304" pitchFamily="18" charset="0"/>
              </a:rPr>
              <a:t>Objectives: Technical &amp; Business Outcomes</a:t>
            </a:r>
            <a:br>
              <a:rPr lang="en-US" sz="3600" b="1" dirty="0">
                <a:latin typeface="Times New Roman" panose="02020603050405020304" pitchFamily="18" charset="0"/>
                <a:cs typeface="Times New Roman" panose="02020603050405020304" pitchFamily="18" charset="0"/>
              </a:rPr>
            </a:br>
            <a:endParaRPr lang="en-IN" sz="3600" b="1"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B4CDD877-74F9-4C6F-B7BB-F89270420D2F}"/>
              </a:ext>
            </a:extLst>
          </p:cNvPr>
          <p:cNvSpPr>
            <a:spLocks noGrp="1"/>
          </p:cNvSpPr>
          <p:nvPr>
            <p:ph type="sldNum" sz="quarter" idx="12"/>
          </p:nvPr>
        </p:nvSpPr>
        <p:spPr/>
        <p:txBody>
          <a:bodyPr/>
          <a:lstStyle/>
          <a:p>
            <a:fld id="{81B41890-78B1-446D-ACB8-09DB24EB6BC7}" type="slidenum">
              <a:rPr lang="en-IN" smtClean="0"/>
              <a:pPr/>
              <a:t>4</a:t>
            </a:fld>
            <a:endParaRPr lang="en-IN" dirty="0"/>
          </a:p>
        </p:txBody>
      </p:sp>
      <p:sp>
        <p:nvSpPr>
          <p:cNvPr id="6" name="Rectangle 2">
            <a:extLst>
              <a:ext uri="{FF2B5EF4-FFF2-40B4-BE49-F238E27FC236}">
                <a16:creationId xmlns:a16="http://schemas.microsoft.com/office/drawing/2014/main" id="{30CF34A4-C213-C934-63CC-E4F724659B8F}"/>
              </a:ext>
            </a:extLst>
          </p:cNvPr>
          <p:cNvSpPr>
            <a:spLocks noChangeArrowheads="1"/>
          </p:cNvSpPr>
          <p:nvPr/>
        </p:nvSpPr>
        <p:spPr bwMode="auto">
          <a:xfrm>
            <a:off x="228600" y="5698421"/>
            <a:ext cx="75438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19B607D4-B084-C03D-9844-FDF025709CA1}"/>
              </a:ext>
            </a:extLst>
          </p:cNvPr>
          <p:cNvSpPr>
            <a:spLocks noChangeArrowheads="1"/>
          </p:cNvSpPr>
          <p:nvPr/>
        </p:nvSpPr>
        <p:spPr bwMode="auto">
          <a:xfrm>
            <a:off x="457200" y="1905000"/>
            <a:ext cx="110490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primary objective of this project was to design and develop an intelligent AI-powered chatbot system for an LMS portal that can provide </a:t>
            </a:r>
            <a:r>
              <a:rPr kumimoji="0" lang="en-US" altLang="en-US" sz="1600"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accurate, context-aware responses using SOP-based knowledge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aimed to enhance user interaction by supporting multiple input modes, including text, voice, and images, while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ensuring scalability and real-time performance in an enterprise environment.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Another key objective was to implement a robust backend architecture using microservices, enabling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 data handling, role-based access, and seamless integration with modern AI models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Additionally, the project focused on improving user experience through a responsive frontend interface and incorporating evaluation mechanisms to continuously monitor and enhance response quality.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 a result, the project successfully delivered a fully functional, production-ready chatbot system capable of handling real-time queries with </a:t>
            </a:r>
            <a:r>
              <a:rPr kumimoji="0" lang="en-US" altLang="en-US" sz="16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accuracy and relevance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integration of RAG-based retrieval ensured that responses were grounded in SOP data, while the addition of voice and vision capabilities significantly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usability and interaction flexibility</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transition to a MongoDB-based backend enabled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better scalability and performance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the implementation of an evaluation dashboard provided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measurable insights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into system effectiveness. Overall, the system achieved its intended goals of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enhancing knowledge accessibility, improving user engagement, and demonstrating the practical application of AI in enterprise learning environments.</a:t>
            </a:r>
          </a:p>
        </p:txBody>
      </p:sp>
    </p:spTree>
    <p:extLst>
      <p:ext uri="{BB962C8B-B14F-4D97-AF65-F5344CB8AC3E}">
        <p14:creationId xmlns:p14="http://schemas.microsoft.com/office/powerpoint/2010/main" val="10596917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B4B4F20-EEC5-67C6-3E8E-878D037CF769}"/>
              </a:ext>
            </a:extLst>
          </p:cNvPr>
          <p:cNvSpPr>
            <a:spLocks noGrp="1"/>
          </p:cNvSpPr>
          <p:nvPr>
            <p:ph type="ftr" sz="quarter" idx="11"/>
          </p:nvPr>
        </p:nvSpPr>
        <p:spPr/>
        <p:txBody>
          <a:bodyPr/>
          <a:lstStyle/>
          <a:p>
            <a:r>
              <a:rPr lang="en-US"/>
              <a:t>Capstone Project Review, AY 25-26, STME, NMIMS Navi Mumbai</a:t>
            </a:r>
            <a:endParaRPr lang="en-IN" dirty="0"/>
          </a:p>
        </p:txBody>
      </p:sp>
      <p:sp>
        <p:nvSpPr>
          <p:cNvPr id="4" name="Slide Number Placeholder 3">
            <a:extLst>
              <a:ext uri="{FF2B5EF4-FFF2-40B4-BE49-F238E27FC236}">
                <a16:creationId xmlns:a16="http://schemas.microsoft.com/office/drawing/2014/main" id="{BFEF45DD-0971-9CC4-68B0-A15CFC7A9CAD}"/>
              </a:ext>
            </a:extLst>
          </p:cNvPr>
          <p:cNvSpPr>
            <a:spLocks noGrp="1"/>
          </p:cNvSpPr>
          <p:nvPr>
            <p:ph type="sldNum" sz="quarter" idx="12"/>
          </p:nvPr>
        </p:nvSpPr>
        <p:spPr/>
        <p:txBody>
          <a:bodyPr/>
          <a:lstStyle/>
          <a:p>
            <a:fld id="{81B41890-78B1-446D-ACB8-09DB24EB6BC7}" type="slidenum">
              <a:rPr lang="en-IN" smtClean="0"/>
              <a:pPr/>
              <a:t>5</a:t>
            </a:fld>
            <a:endParaRPr lang="en-IN" dirty="0"/>
          </a:p>
        </p:txBody>
      </p:sp>
      <p:sp>
        <p:nvSpPr>
          <p:cNvPr id="5" name="Rectangle 1">
            <a:extLst>
              <a:ext uri="{FF2B5EF4-FFF2-40B4-BE49-F238E27FC236}">
                <a16:creationId xmlns:a16="http://schemas.microsoft.com/office/drawing/2014/main" id="{5A824124-7EB7-FBC2-CB26-3E3F58EE3F1E}"/>
              </a:ext>
            </a:extLst>
          </p:cNvPr>
          <p:cNvSpPr>
            <a:spLocks noChangeArrowheads="1"/>
          </p:cNvSpPr>
          <p:nvPr/>
        </p:nvSpPr>
        <p:spPr bwMode="auto">
          <a:xfrm>
            <a:off x="152400" y="1218456"/>
            <a:ext cx="11353800" cy="4955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Working of the System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working of the system begins when a user interacts with the chatbot through the React-based frontend, either by typing a query, using voice input, or uploading a file such as an image or document. The input is first captured and preprocessed on the frontend and then sent to the Chatbot Service via API calls. If the input is </a:t>
            </a:r>
            <a:r>
              <a:rPr kumimoji="0" lang="en-US" altLang="en-US"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voice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is converted into text using the </a:t>
            </a:r>
            <a:r>
              <a:rPr kumimoji="0" lang="en-US" altLang="en-US"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 Speech API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before being processed further. In case of file uploads, the system extracts relevant content using appropriate tools such as </a:t>
            </a:r>
            <a:r>
              <a:rPr kumimoji="0" lang="en-US" altLang="en-US"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PDF parsers or vision models for images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Once the input reaches the Chatbot Service, it is processed using a </a:t>
            </a:r>
            <a:r>
              <a:rPr kumimoji="0" lang="en-US" altLang="en-US"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Retrieval-Augmented Generation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(RAG) approach, where </a:t>
            </a:r>
            <a:r>
              <a:rPr kumimoji="0" lang="en-US" altLang="en-US"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relevant SOP data is fetched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from the </a:t>
            </a:r>
            <a:r>
              <a:rPr kumimoji="0" lang="en-US" altLang="en-US"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MCP V3 Server based on the user’s role and query context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retrieved information is then </a:t>
            </a:r>
            <a:r>
              <a:rPr kumimoji="0" lang="en-US" altLang="en-US"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combined with the user query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passed to the LLM, which generates a contextually accurate response. If the query includes an image, the Vision model analyzes it and contributes to the response generation.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generated response is then </a:t>
            </a:r>
            <a:r>
              <a:rPr kumimoji="0" lang="en-US" altLang="en-US"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evaluated internally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accuracy, relevance, and grounding before being sent back to the frontend. Finally, the user receives the response in real time, along with optional suggestions for follow-up queries. This entire flow ensures that the system delivers fast, accurate, and context-aware answers while supporting multiple input formats and maintaining a smooth user experience.</a:t>
            </a:r>
          </a:p>
        </p:txBody>
      </p:sp>
    </p:spTree>
    <p:extLst>
      <p:ext uri="{BB962C8B-B14F-4D97-AF65-F5344CB8AC3E}">
        <p14:creationId xmlns:p14="http://schemas.microsoft.com/office/powerpoint/2010/main" val="859134510"/>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2CA8F2D-6825-3672-84BA-F330BEFF99B5}"/>
              </a:ext>
            </a:extLst>
          </p:cNvPr>
          <p:cNvSpPr>
            <a:spLocks noGrp="1"/>
          </p:cNvSpPr>
          <p:nvPr>
            <p:ph type="ftr" sz="quarter" idx="11"/>
          </p:nvPr>
        </p:nvSpPr>
        <p:spPr/>
        <p:txBody>
          <a:bodyPr/>
          <a:lstStyle/>
          <a:p>
            <a:r>
              <a:rPr lang="en-US"/>
              <a:t>Capstone Project Review, AY 25-26, STME, NMIMS Navi Mumbai</a:t>
            </a:r>
            <a:endParaRPr lang="en-IN" dirty="0"/>
          </a:p>
        </p:txBody>
      </p:sp>
      <p:sp>
        <p:nvSpPr>
          <p:cNvPr id="3" name="Slide Number Placeholder 2">
            <a:extLst>
              <a:ext uri="{FF2B5EF4-FFF2-40B4-BE49-F238E27FC236}">
                <a16:creationId xmlns:a16="http://schemas.microsoft.com/office/drawing/2014/main" id="{E004B582-43A4-4F05-0847-C2E569BDBD15}"/>
              </a:ext>
            </a:extLst>
          </p:cNvPr>
          <p:cNvSpPr>
            <a:spLocks noGrp="1"/>
          </p:cNvSpPr>
          <p:nvPr>
            <p:ph type="sldNum" sz="quarter" idx="12"/>
          </p:nvPr>
        </p:nvSpPr>
        <p:spPr/>
        <p:txBody>
          <a:bodyPr/>
          <a:lstStyle/>
          <a:p>
            <a:fld id="{81B41890-78B1-446D-ACB8-09DB24EB6BC7}" type="slidenum">
              <a:rPr lang="en-IN" smtClean="0"/>
              <a:pPr/>
              <a:t>6</a:t>
            </a:fld>
            <a:endParaRPr lang="en-IN" dirty="0"/>
          </a:p>
        </p:txBody>
      </p:sp>
      <p:pic>
        <p:nvPicPr>
          <p:cNvPr id="5" name="Picture 4">
            <a:extLst>
              <a:ext uri="{FF2B5EF4-FFF2-40B4-BE49-F238E27FC236}">
                <a16:creationId xmlns:a16="http://schemas.microsoft.com/office/drawing/2014/main" id="{273820F1-57B0-6D3D-8D6E-8D5DCB4D318E}"/>
              </a:ext>
            </a:extLst>
          </p:cNvPr>
          <p:cNvPicPr>
            <a:picLocks noChangeAspect="1"/>
          </p:cNvPicPr>
          <p:nvPr/>
        </p:nvPicPr>
        <p:blipFill>
          <a:blip r:embed="rId2"/>
          <a:stretch>
            <a:fillRect/>
          </a:stretch>
        </p:blipFill>
        <p:spPr>
          <a:xfrm>
            <a:off x="25401" y="1237921"/>
            <a:ext cx="5803076" cy="2648279"/>
          </a:xfrm>
          <a:prstGeom prst="rect">
            <a:avLst/>
          </a:prstGeom>
        </p:spPr>
      </p:pic>
      <p:pic>
        <p:nvPicPr>
          <p:cNvPr id="7" name="Picture 6">
            <a:extLst>
              <a:ext uri="{FF2B5EF4-FFF2-40B4-BE49-F238E27FC236}">
                <a16:creationId xmlns:a16="http://schemas.microsoft.com/office/drawing/2014/main" id="{9332C2BB-A5D8-5C27-D9B3-17CB7D62E0CC}"/>
              </a:ext>
            </a:extLst>
          </p:cNvPr>
          <p:cNvPicPr>
            <a:picLocks noChangeAspect="1"/>
          </p:cNvPicPr>
          <p:nvPr/>
        </p:nvPicPr>
        <p:blipFill>
          <a:blip r:embed="rId3"/>
          <a:stretch>
            <a:fillRect/>
          </a:stretch>
        </p:blipFill>
        <p:spPr>
          <a:xfrm>
            <a:off x="5943600" y="3352800"/>
            <a:ext cx="5928360" cy="2647527"/>
          </a:xfrm>
          <a:prstGeom prst="rect">
            <a:avLst/>
          </a:prstGeom>
        </p:spPr>
      </p:pic>
    </p:spTree>
    <p:extLst>
      <p:ext uri="{BB962C8B-B14F-4D97-AF65-F5344CB8AC3E}">
        <p14:creationId xmlns:p14="http://schemas.microsoft.com/office/powerpoint/2010/main" val="3304237490"/>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5150A29-0C56-1410-13E4-B3738008E17F}"/>
              </a:ext>
            </a:extLst>
          </p:cNvPr>
          <p:cNvSpPr>
            <a:spLocks noGrp="1"/>
          </p:cNvSpPr>
          <p:nvPr>
            <p:ph type="ftr" sz="quarter" idx="11"/>
          </p:nvPr>
        </p:nvSpPr>
        <p:spPr/>
        <p:txBody>
          <a:bodyPr/>
          <a:lstStyle/>
          <a:p>
            <a:r>
              <a:rPr lang="en-US"/>
              <a:t>Capstone Project Review, AY 25-26, STME, NMIMS Navi Mumbai</a:t>
            </a:r>
            <a:endParaRPr lang="en-IN" dirty="0"/>
          </a:p>
        </p:txBody>
      </p:sp>
      <p:sp>
        <p:nvSpPr>
          <p:cNvPr id="3" name="Slide Number Placeholder 2">
            <a:extLst>
              <a:ext uri="{FF2B5EF4-FFF2-40B4-BE49-F238E27FC236}">
                <a16:creationId xmlns:a16="http://schemas.microsoft.com/office/drawing/2014/main" id="{D308C12C-DB07-7C3A-2290-F265B2E97843}"/>
              </a:ext>
            </a:extLst>
          </p:cNvPr>
          <p:cNvSpPr>
            <a:spLocks noGrp="1"/>
          </p:cNvSpPr>
          <p:nvPr>
            <p:ph type="sldNum" sz="quarter" idx="12"/>
          </p:nvPr>
        </p:nvSpPr>
        <p:spPr/>
        <p:txBody>
          <a:bodyPr/>
          <a:lstStyle/>
          <a:p>
            <a:fld id="{81B41890-78B1-446D-ACB8-09DB24EB6BC7}" type="slidenum">
              <a:rPr lang="en-IN" smtClean="0"/>
              <a:pPr/>
              <a:t>7</a:t>
            </a:fld>
            <a:endParaRPr lang="en-IN" dirty="0"/>
          </a:p>
        </p:txBody>
      </p:sp>
      <p:pic>
        <p:nvPicPr>
          <p:cNvPr id="5" name="Picture 4">
            <a:extLst>
              <a:ext uri="{FF2B5EF4-FFF2-40B4-BE49-F238E27FC236}">
                <a16:creationId xmlns:a16="http://schemas.microsoft.com/office/drawing/2014/main" id="{4FDFE71D-F667-72D4-CF5C-145633295B9E}"/>
              </a:ext>
            </a:extLst>
          </p:cNvPr>
          <p:cNvPicPr>
            <a:picLocks noChangeAspect="1"/>
          </p:cNvPicPr>
          <p:nvPr/>
        </p:nvPicPr>
        <p:blipFill>
          <a:blip r:embed="rId2"/>
          <a:stretch>
            <a:fillRect/>
          </a:stretch>
        </p:blipFill>
        <p:spPr>
          <a:xfrm>
            <a:off x="647700" y="1219200"/>
            <a:ext cx="11163300" cy="5073696"/>
          </a:xfrm>
          <a:prstGeom prst="rect">
            <a:avLst/>
          </a:prstGeom>
        </p:spPr>
      </p:pic>
    </p:spTree>
    <p:extLst>
      <p:ext uri="{BB962C8B-B14F-4D97-AF65-F5344CB8AC3E}">
        <p14:creationId xmlns:p14="http://schemas.microsoft.com/office/powerpoint/2010/main" val="2090889267"/>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646D406-0B63-5FFC-B51E-49C4411B94C5}"/>
              </a:ext>
            </a:extLst>
          </p:cNvPr>
          <p:cNvSpPr>
            <a:spLocks noGrp="1"/>
          </p:cNvSpPr>
          <p:nvPr>
            <p:ph type="ftr" sz="quarter" idx="11"/>
          </p:nvPr>
        </p:nvSpPr>
        <p:spPr/>
        <p:txBody>
          <a:bodyPr/>
          <a:lstStyle/>
          <a:p>
            <a:r>
              <a:rPr lang="en-US"/>
              <a:t>Capstone Project Review, AY 25-26, STME, NMIMS Navi Mumbai</a:t>
            </a:r>
            <a:endParaRPr lang="en-IN" dirty="0"/>
          </a:p>
        </p:txBody>
      </p:sp>
      <p:sp>
        <p:nvSpPr>
          <p:cNvPr id="3" name="Slide Number Placeholder 2">
            <a:extLst>
              <a:ext uri="{FF2B5EF4-FFF2-40B4-BE49-F238E27FC236}">
                <a16:creationId xmlns:a16="http://schemas.microsoft.com/office/drawing/2014/main" id="{14D69FF0-7199-9134-5A1A-54BD93A2B359}"/>
              </a:ext>
            </a:extLst>
          </p:cNvPr>
          <p:cNvSpPr>
            <a:spLocks noGrp="1"/>
          </p:cNvSpPr>
          <p:nvPr>
            <p:ph type="sldNum" sz="quarter" idx="12"/>
          </p:nvPr>
        </p:nvSpPr>
        <p:spPr/>
        <p:txBody>
          <a:bodyPr/>
          <a:lstStyle/>
          <a:p>
            <a:fld id="{81B41890-78B1-446D-ACB8-09DB24EB6BC7}" type="slidenum">
              <a:rPr lang="en-IN" smtClean="0"/>
              <a:pPr/>
              <a:t>8</a:t>
            </a:fld>
            <a:endParaRPr lang="en-IN" dirty="0"/>
          </a:p>
        </p:txBody>
      </p:sp>
      <p:pic>
        <p:nvPicPr>
          <p:cNvPr id="5" name="Picture 4">
            <a:extLst>
              <a:ext uri="{FF2B5EF4-FFF2-40B4-BE49-F238E27FC236}">
                <a16:creationId xmlns:a16="http://schemas.microsoft.com/office/drawing/2014/main" id="{0E9139B8-8466-E227-C415-7E31F240138A}"/>
              </a:ext>
            </a:extLst>
          </p:cNvPr>
          <p:cNvPicPr>
            <a:picLocks noChangeAspect="1"/>
          </p:cNvPicPr>
          <p:nvPr/>
        </p:nvPicPr>
        <p:blipFill>
          <a:blip r:embed="rId2"/>
          <a:stretch>
            <a:fillRect/>
          </a:stretch>
        </p:blipFill>
        <p:spPr>
          <a:xfrm>
            <a:off x="551180" y="1219200"/>
            <a:ext cx="11089640" cy="4981380"/>
          </a:xfrm>
          <a:prstGeom prst="rect">
            <a:avLst/>
          </a:prstGeom>
        </p:spPr>
      </p:pic>
    </p:spTree>
    <p:extLst>
      <p:ext uri="{BB962C8B-B14F-4D97-AF65-F5344CB8AC3E}">
        <p14:creationId xmlns:p14="http://schemas.microsoft.com/office/powerpoint/2010/main" val="192586078"/>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6DB16F7-DA66-F139-A68C-0B7DC66AC2F6}"/>
              </a:ext>
            </a:extLst>
          </p:cNvPr>
          <p:cNvSpPr>
            <a:spLocks noGrp="1"/>
          </p:cNvSpPr>
          <p:nvPr>
            <p:ph type="ftr" sz="quarter" idx="11"/>
          </p:nvPr>
        </p:nvSpPr>
        <p:spPr/>
        <p:txBody>
          <a:bodyPr/>
          <a:lstStyle/>
          <a:p>
            <a:r>
              <a:rPr lang="en-US"/>
              <a:t>Capstone Project Review, AY 25-26, STME, NMIMS Navi Mumbai</a:t>
            </a:r>
            <a:endParaRPr lang="en-IN" dirty="0"/>
          </a:p>
        </p:txBody>
      </p:sp>
      <p:sp>
        <p:nvSpPr>
          <p:cNvPr id="3" name="Slide Number Placeholder 2">
            <a:extLst>
              <a:ext uri="{FF2B5EF4-FFF2-40B4-BE49-F238E27FC236}">
                <a16:creationId xmlns:a16="http://schemas.microsoft.com/office/drawing/2014/main" id="{B541BE38-E0E2-3F18-CA9E-B8C1AFE900F1}"/>
              </a:ext>
            </a:extLst>
          </p:cNvPr>
          <p:cNvSpPr>
            <a:spLocks noGrp="1"/>
          </p:cNvSpPr>
          <p:nvPr>
            <p:ph type="sldNum" sz="quarter" idx="12"/>
          </p:nvPr>
        </p:nvSpPr>
        <p:spPr/>
        <p:txBody>
          <a:bodyPr/>
          <a:lstStyle/>
          <a:p>
            <a:fld id="{81B41890-78B1-446D-ACB8-09DB24EB6BC7}" type="slidenum">
              <a:rPr lang="en-IN" smtClean="0"/>
              <a:pPr/>
              <a:t>9</a:t>
            </a:fld>
            <a:endParaRPr lang="en-IN" dirty="0"/>
          </a:p>
        </p:txBody>
      </p:sp>
      <p:pic>
        <p:nvPicPr>
          <p:cNvPr id="7" name="Picture 6">
            <a:extLst>
              <a:ext uri="{FF2B5EF4-FFF2-40B4-BE49-F238E27FC236}">
                <a16:creationId xmlns:a16="http://schemas.microsoft.com/office/drawing/2014/main" id="{B7240209-A2CB-1BC4-F154-29C11229BFE8}"/>
              </a:ext>
            </a:extLst>
          </p:cNvPr>
          <p:cNvPicPr>
            <a:picLocks noChangeAspect="1"/>
          </p:cNvPicPr>
          <p:nvPr/>
        </p:nvPicPr>
        <p:blipFill>
          <a:blip r:embed="rId2"/>
          <a:stretch>
            <a:fillRect/>
          </a:stretch>
        </p:blipFill>
        <p:spPr>
          <a:xfrm>
            <a:off x="4107289" y="2667000"/>
            <a:ext cx="8084711" cy="3505199"/>
          </a:xfrm>
          <a:prstGeom prst="rect">
            <a:avLst/>
          </a:prstGeom>
        </p:spPr>
      </p:pic>
      <p:pic>
        <p:nvPicPr>
          <p:cNvPr id="11" name="Picture 10">
            <a:extLst>
              <a:ext uri="{FF2B5EF4-FFF2-40B4-BE49-F238E27FC236}">
                <a16:creationId xmlns:a16="http://schemas.microsoft.com/office/drawing/2014/main" id="{DE1C395C-947B-C34E-9413-F2637E8E81DA}"/>
              </a:ext>
            </a:extLst>
          </p:cNvPr>
          <p:cNvPicPr>
            <a:picLocks noChangeAspect="1"/>
          </p:cNvPicPr>
          <p:nvPr/>
        </p:nvPicPr>
        <p:blipFill>
          <a:blip r:embed="rId3"/>
          <a:stretch>
            <a:fillRect/>
          </a:stretch>
        </p:blipFill>
        <p:spPr>
          <a:xfrm>
            <a:off x="457200" y="1524000"/>
            <a:ext cx="2945309" cy="2719788"/>
          </a:xfrm>
          <a:prstGeom prst="rect">
            <a:avLst/>
          </a:prstGeom>
        </p:spPr>
      </p:pic>
    </p:spTree>
    <p:extLst>
      <p:ext uri="{BB962C8B-B14F-4D97-AF65-F5344CB8AC3E}">
        <p14:creationId xmlns:p14="http://schemas.microsoft.com/office/powerpoint/2010/main" val="350916574"/>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A8103D7-525E-0D86-6F17-05836ED7BF5E}"/>
              </a:ext>
            </a:extLst>
          </p:cNvPr>
          <p:cNvSpPr>
            <a:spLocks noGrp="1"/>
          </p:cNvSpPr>
          <p:nvPr>
            <p:ph type="ftr" sz="quarter" idx="11"/>
          </p:nvPr>
        </p:nvSpPr>
        <p:spPr/>
        <p:txBody>
          <a:bodyPr/>
          <a:lstStyle/>
          <a:p>
            <a:r>
              <a:rPr lang="en-US"/>
              <a:t>Capstone Project Review, AY 25-26, STME, NMIMS Navi Mumbai</a:t>
            </a:r>
            <a:endParaRPr lang="en-IN" dirty="0"/>
          </a:p>
        </p:txBody>
      </p:sp>
      <p:sp>
        <p:nvSpPr>
          <p:cNvPr id="3" name="Slide Number Placeholder 2">
            <a:extLst>
              <a:ext uri="{FF2B5EF4-FFF2-40B4-BE49-F238E27FC236}">
                <a16:creationId xmlns:a16="http://schemas.microsoft.com/office/drawing/2014/main" id="{5E3B890E-B92D-7D2F-A18C-79C90D0F05CE}"/>
              </a:ext>
            </a:extLst>
          </p:cNvPr>
          <p:cNvSpPr>
            <a:spLocks noGrp="1"/>
          </p:cNvSpPr>
          <p:nvPr>
            <p:ph type="sldNum" sz="quarter" idx="12"/>
          </p:nvPr>
        </p:nvSpPr>
        <p:spPr/>
        <p:txBody>
          <a:bodyPr/>
          <a:lstStyle/>
          <a:p>
            <a:fld id="{81B41890-78B1-446D-ACB8-09DB24EB6BC7}" type="slidenum">
              <a:rPr lang="en-IN" smtClean="0"/>
              <a:pPr/>
              <a:t>10</a:t>
            </a:fld>
            <a:endParaRPr lang="en-IN" dirty="0"/>
          </a:p>
        </p:txBody>
      </p:sp>
      <p:pic>
        <p:nvPicPr>
          <p:cNvPr id="5" name="Picture 4">
            <a:extLst>
              <a:ext uri="{FF2B5EF4-FFF2-40B4-BE49-F238E27FC236}">
                <a16:creationId xmlns:a16="http://schemas.microsoft.com/office/drawing/2014/main" id="{1FE1F075-F3A8-3C72-8410-BF92A1601FDC}"/>
              </a:ext>
            </a:extLst>
          </p:cNvPr>
          <p:cNvPicPr>
            <a:picLocks noChangeAspect="1"/>
          </p:cNvPicPr>
          <p:nvPr/>
        </p:nvPicPr>
        <p:blipFill>
          <a:blip r:embed="rId2"/>
          <a:stretch>
            <a:fillRect/>
          </a:stretch>
        </p:blipFill>
        <p:spPr>
          <a:xfrm>
            <a:off x="5557521" y="934206"/>
            <a:ext cx="6441996" cy="2880267"/>
          </a:xfrm>
          <a:prstGeom prst="rect">
            <a:avLst/>
          </a:prstGeom>
        </p:spPr>
      </p:pic>
      <p:pic>
        <p:nvPicPr>
          <p:cNvPr id="7" name="Picture 6">
            <a:extLst>
              <a:ext uri="{FF2B5EF4-FFF2-40B4-BE49-F238E27FC236}">
                <a16:creationId xmlns:a16="http://schemas.microsoft.com/office/drawing/2014/main" id="{C46EFCB7-1157-BE77-E5DD-E56FE8BF4A54}"/>
              </a:ext>
            </a:extLst>
          </p:cNvPr>
          <p:cNvPicPr>
            <a:picLocks noChangeAspect="1"/>
          </p:cNvPicPr>
          <p:nvPr/>
        </p:nvPicPr>
        <p:blipFill>
          <a:blip r:embed="rId3"/>
          <a:stretch>
            <a:fillRect/>
          </a:stretch>
        </p:blipFill>
        <p:spPr>
          <a:xfrm>
            <a:off x="5562600" y="3841208"/>
            <a:ext cx="6483981" cy="2880267"/>
          </a:xfrm>
          <a:prstGeom prst="rect">
            <a:avLst/>
          </a:prstGeom>
        </p:spPr>
      </p:pic>
      <p:pic>
        <p:nvPicPr>
          <p:cNvPr id="9" name="Picture 8">
            <a:extLst>
              <a:ext uri="{FF2B5EF4-FFF2-40B4-BE49-F238E27FC236}">
                <a16:creationId xmlns:a16="http://schemas.microsoft.com/office/drawing/2014/main" id="{22F70A2B-8CAC-23E5-25D3-3E9B476E9949}"/>
              </a:ext>
            </a:extLst>
          </p:cNvPr>
          <p:cNvPicPr>
            <a:picLocks noChangeAspect="1"/>
          </p:cNvPicPr>
          <p:nvPr/>
        </p:nvPicPr>
        <p:blipFill>
          <a:blip r:embed="rId4"/>
          <a:stretch>
            <a:fillRect/>
          </a:stretch>
        </p:blipFill>
        <p:spPr>
          <a:xfrm>
            <a:off x="381000" y="1447800"/>
            <a:ext cx="4887518" cy="5073121"/>
          </a:xfrm>
          <a:prstGeom prst="rect">
            <a:avLst/>
          </a:prstGeom>
        </p:spPr>
      </p:pic>
    </p:spTree>
    <p:extLst>
      <p:ext uri="{BB962C8B-B14F-4D97-AF65-F5344CB8AC3E}">
        <p14:creationId xmlns:p14="http://schemas.microsoft.com/office/powerpoint/2010/main" val="914479712"/>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BCB36E8-B271-95B0-8155-A69B234E0C6E}"/>
              </a:ext>
            </a:extLst>
          </p:cNvPr>
          <p:cNvSpPr>
            <a:spLocks noGrp="1"/>
          </p:cNvSpPr>
          <p:nvPr>
            <p:ph type="ftr" sz="quarter" idx="11"/>
          </p:nvPr>
        </p:nvSpPr>
        <p:spPr/>
        <p:txBody>
          <a:bodyPr/>
          <a:lstStyle/>
          <a:p>
            <a:r>
              <a:rPr lang="en-US"/>
              <a:t>Capstone Project Review, AY 25-26, STME, NMIMS Navi Mumbai</a:t>
            </a:r>
            <a:endParaRPr lang="en-IN" dirty="0"/>
          </a:p>
        </p:txBody>
      </p:sp>
      <p:sp>
        <p:nvSpPr>
          <p:cNvPr id="3" name="Slide Number Placeholder 2">
            <a:extLst>
              <a:ext uri="{FF2B5EF4-FFF2-40B4-BE49-F238E27FC236}">
                <a16:creationId xmlns:a16="http://schemas.microsoft.com/office/drawing/2014/main" id="{EE21EE31-F0FF-0BF3-98BC-CD12F47E7065}"/>
              </a:ext>
            </a:extLst>
          </p:cNvPr>
          <p:cNvSpPr>
            <a:spLocks noGrp="1"/>
          </p:cNvSpPr>
          <p:nvPr>
            <p:ph type="sldNum" sz="quarter" idx="12"/>
          </p:nvPr>
        </p:nvSpPr>
        <p:spPr/>
        <p:txBody>
          <a:bodyPr/>
          <a:lstStyle/>
          <a:p>
            <a:fld id="{81B41890-78B1-446D-ACB8-09DB24EB6BC7}" type="slidenum">
              <a:rPr lang="en-IN" smtClean="0"/>
              <a:pPr/>
              <a:t>11</a:t>
            </a:fld>
            <a:endParaRPr lang="en-IN" dirty="0"/>
          </a:p>
        </p:txBody>
      </p:sp>
      <p:pic>
        <p:nvPicPr>
          <p:cNvPr id="5" name="Picture 4">
            <a:extLst>
              <a:ext uri="{FF2B5EF4-FFF2-40B4-BE49-F238E27FC236}">
                <a16:creationId xmlns:a16="http://schemas.microsoft.com/office/drawing/2014/main" id="{21B7998E-8165-7579-2B71-B1F736931E67}"/>
              </a:ext>
            </a:extLst>
          </p:cNvPr>
          <p:cNvPicPr>
            <a:picLocks noChangeAspect="1"/>
          </p:cNvPicPr>
          <p:nvPr/>
        </p:nvPicPr>
        <p:blipFill>
          <a:blip r:embed="rId2"/>
          <a:srcRect l="31850" r="25684"/>
          <a:stretch>
            <a:fillRect/>
          </a:stretch>
        </p:blipFill>
        <p:spPr>
          <a:xfrm>
            <a:off x="99060" y="2056296"/>
            <a:ext cx="2801769" cy="2976880"/>
          </a:xfrm>
          <a:prstGeom prst="rect">
            <a:avLst/>
          </a:prstGeom>
        </p:spPr>
      </p:pic>
      <p:pic>
        <p:nvPicPr>
          <p:cNvPr id="7" name="Picture 6">
            <a:extLst>
              <a:ext uri="{FF2B5EF4-FFF2-40B4-BE49-F238E27FC236}">
                <a16:creationId xmlns:a16="http://schemas.microsoft.com/office/drawing/2014/main" id="{14A66291-56DF-878B-FB87-018B96DCF339}"/>
              </a:ext>
            </a:extLst>
          </p:cNvPr>
          <p:cNvPicPr>
            <a:picLocks noChangeAspect="1"/>
          </p:cNvPicPr>
          <p:nvPr/>
        </p:nvPicPr>
        <p:blipFill>
          <a:blip r:embed="rId3"/>
          <a:srcRect r="9918"/>
          <a:stretch>
            <a:fillRect/>
          </a:stretch>
        </p:blipFill>
        <p:spPr>
          <a:xfrm>
            <a:off x="5908881" y="2056296"/>
            <a:ext cx="2986199" cy="3252939"/>
          </a:xfrm>
          <a:prstGeom prst="rect">
            <a:avLst/>
          </a:prstGeom>
        </p:spPr>
      </p:pic>
      <p:pic>
        <p:nvPicPr>
          <p:cNvPr id="9" name="Picture 8">
            <a:extLst>
              <a:ext uri="{FF2B5EF4-FFF2-40B4-BE49-F238E27FC236}">
                <a16:creationId xmlns:a16="http://schemas.microsoft.com/office/drawing/2014/main" id="{EB0AAC12-E679-18BD-7079-85080949E34E}"/>
              </a:ext>
            </a:extLst>
          </p:cNvPr>
          <p:cNvPicPr>
            <a:picLocks noChangeAspect="1"/>
          </p:cNvPicPr>
          <p:nvPr/>
        </p:nvPicPr>
        <p:blipFill>
          <a:blip r:embed="rId4"/>
          <a:stretch>
            <a:fillRect/>
          </a:stretch>
        </p:blipFill>
        <p:spPr>
          <a:xfrm>
            <a:off x="9029803" y="2056296"/>
            <a:ext cx="3157117" cy="3048000"/>
          </a:xfrm>
          <a:prstGeom prst="rect">
            <a:avLst/>
          </a:prstGeom>
        </p:spPr>
      </p:pic>
      <p:pic>
        <p:nvPicPr>
          <p:cNvPr id="11" name="Picture 10">
            <a:extLst>
              <a:ext uri="{FF2B5EF4-FFF2-40B4-BE49-F238E27FC236}">
                <a16:creationId xmlns:a16="http://schemas.microsoft.com/office/drawing/2014/main" id="{D01F6F9B-809F-A054-F6F8-F802BCEDC68A}"/>
              </a:ext>
            </a:extLst>
          </p:cNvPr>
          <p:cNvPicPr>
            <a:picLocks noChangeAspect="1"/>
          </p:cNvPicPr>
          <p:nvPr/>
        </p:nvPicPr>
        <p:blipFill>
          <a:blip r:embed="rId5"/>
          <a:stretch>
            <a:fillRect/>
          </a:stretch>
        </p:blipFill>
        <p:spPr>
          <a:xfrm>
            <a:off x="2989729" y="2056296"/>
            <a:ext cx="2741352" cy="3048000"/>
          </a:xfrm>
          <a:prstGeom prst="rect">
            <a:avLst/>
          </a:prstGeom>
        </p:spPr>
      </p:pic>
    </p:spTree>
    <p:extLst>
      <p:ext uri="{BB962C8B-B14F-4D97-AF65-F5344CB8AC3E}">
        <p14:creationId xmlns:p14="http://schemas.microsoft.com/office/powerpoint/2010/main" val="601332506"/>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65CFD9A-F100-F9A9-2DAC-CC1674BEB8AE}"/>
              </a:ext>
            </a:extLst>
          </p:cNvPr>
          <p:cNvSpPr>
            <a:spLocks noGrp="1"/>
          </p:cNvSpPr>
          <p:nvPr>
            <p:ph type="ftr" sz="quarter" idx="11"/>
          </p:nvPr>
        </p:nvSpPr>
        <p:spPr/>
        <p:txBody>
          <a:bodyPr/>
          <a:lstStyle/>
          <a:p>
            <a:r>
              <a:rPr lang="en-US"/>
              <a:t>Capstone Project Review, AY 25-26, STME, NMIMS Navi Mumbai</a:t>
            </a:r>
            <a:endParaRPr lang="en-IN" dirty="0"/>
          </a:p>
        </p:txBody>
      </p:sp>
      <p:sp>
        <p:nvSpPr>
          <p:cNvPr id="5" name="Slide Number Placeholder 4">
            <a:extLst>
              <a:ext uri="{FF2B5EF4-FFF2-40B4-BE49-F238E27FC236}">
                <a16:creationId xmlns:a16="http://schemas.microsoft.com/office/drawing/2014/main" id="{48298224-B029-4424-96FF-9D64F8735E25}"/>
              </a:ext>
            </a:extLst>
          </p:cNvPr>
          <p:cNvSpPr>
            <a:spLocks noGrp="1"/>
          </p:cNvSpPr>
          <p:nvPr>
            <p:ph type="sldNum" sz="quarter" idx="12"/>
          </p:nvPr>
        </p:nvSpPr>
        <p:spPr/>
        <p:txBody>
          <a:bodyPr/>
          <a:lstStyle/>
          <a:p>
            <a:fld id="{81B41890-78B1-446D-ACB8-09DB24EB6BC7}" type="slidenum">
              <a:rPr lang="en-IN" smtClean="0"/>
              <a:pPr/>
              <a:t>12</a:t>
            </a:fld>
            <a:endParaRPr lang="en-IN" dirty="0"/>
          </a:p>
        </p:txBody>
      </p:sp>
      <p:sp>
        <p:nvSpPr>
          <p:cNvPr id="9" name="Rectangle 4">
            <a:extLst>
              <a:ext uri="{FF2B5EF4-FFF2-40B4-BE49-F238E27FC236}">
                <a16:creationId xmlns:a16="http://schemas.microsoft.com/office/drawing/2014/main" id="{F2418BD9-8F89-ED0C-40D1-036C33E9FB32}"/>
              </a:ext>
            </a:extLst>
          </p:cNvPr>
          <p:cNvSpPr>
            <a:spLocks noChangeArrowheads="1"/>
          </p:cNvSpPr>
          <p:nvPr/>
        </p:nvSpPr>
        <p:spPr bwMode="auto">
          <a:xfrm>
            <a:off x="1661589" y="1330396"/>
            <a:ext cx="8320611"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 STACK</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Frontend: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React.js (Hooks, Component-based architecture, Responsive UI)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FastAPI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 high-performance REST APIs, microservices architecture)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MongoDB (NoSQL, 9 collections, scalable and flexible storage)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LLM Engine: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Groq</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API –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llama-3.1-8b-instant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(fast and efficient text generation)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Vision Model:</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Groq</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Vision –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llama-4-scout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(image understanding and 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Voice Processing: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Web Speech API (browser-based speech-to-text, no external setup)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File Processing:</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PDF: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pdfplumber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PyPDF2</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DOCX: python-docx</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Excel: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openpyxl</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Handling: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Base64 encoding + Vision API integration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Architecture Style: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Microservices (Frontend + Chatbot Service + MCP Server)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API Communication: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REST APIs (JSON-based request/response handling)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Deployment Tools: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Uvicorn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(backend server),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npm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serve (frontend hosting)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Storage: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Local file storage (SOPs, uploads, snapshots)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1675197"/>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642B1-BE77-8C22-EB64-0B7E7E2429C1}"/>
              </a:ext>
            </a:extLst>
          </p:cNvPr>
          <p:cNvSpPr>
            <a:spLocks noGrp="1"/>
          </p:cNvSpPr>
          <p:nvPr>
            <p:ph type="title"/>
          </p:nvPr>
        </p:nvSpPr>
        <p:spPr>
          <a:xfrm>
            <a:off x="381000" y="1555750"/>
            <a:ext cx="11430000" cy="4800600"/>
          </a:xfrm>
        </p:spPr>
        <p:txBody>
          <a:bodyPr>
            <a:noAutofit/>
          </a:bodyPr>
          <a:lstStyle/>
          <a:p>
            <a:r>
              <a:rPr lang="en-US" sz="1600" b="1" dirty="0">
                <a:latin typeface="Times New Roman" panose="02020603050405020304" pitchFamily="18" charset="0"/>
                <a:cs typeface="Times New Roman" panose="02020603050405020304" pitchFamily="18" charset="0"/>
              </a:rPr>
              <a:t>Conclusion</a:t>
            </a:r>
            <a:br>
              <a:rPr lang="en-US" sz="1600" b="1"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AI Chatbot System for the LMS portal was successfully developed as a scalable and production-ready solution that integrates advanced AI capabilities with a robust microservices architecture. The project achieved its goal of delivering accurate and context-aware responses using a RAG-based approach, ensuring that all outputs are grounded in relevant SOP data. The system was enhanced with multi-modal interaction features, including voice and image processing, which significantly improved user experience and accessibility. </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With the implementation of MongoDB and multiple independent services, the platform demonstrates strong performance, flexibility, and readiness for real-world enterprise deployment. Overall, the project highlights the practical application of AI in improving knowledge management and user engagement within an organizational ecosystem.</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Future Scope</a:t>
            </a:r>
            <a:br>
              <a:rPr lang="en-US" sz="1600" b="1"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future scope of this system focuses on expanding its capabilities to make it more intelligent, accessible, and enterprise-integrated. Enhancements can include multi-language support to cater to a diverse user base, integration of vector databases like </a:t>
            </a:r>
            <a:r>
              <a:rPr lang="en-US" sz="1600" dirty="0" err="1">
                <a:latin typeface="Times New Roman" panose="02020603050405020304" pitchFamily="18" charset="0"/>
                <a:cs typeface="Times New Roman" panose="02020603050405020304" pitchFamily="18" charset="0"/>
              </a:rPr>
              <a:t>ChromaDB</a:t>
            </a:r>
            <a:r>
              <a:rPr lang="en-US" sz="1600" dirty="0">
                <a:latin typeface="Times New Roman" panose="02020603050405020304" pitchFamily="18" charset="0"/>
                <a:cs typeface="Times New Roman" panose="02020603050405020304" pitchFamily="18" charset="0"/>
              </a:rPr>
              <a:t> for improved semantic search and retrieval accuracy, and implementation of Single Sign-On (SSO) for seamless enterprise authentication. The system can also be extended into a mobile application using React Native to increase accessibility across devices. Additional features such as text-to-speech for voice responses, continuous learning through feedback-based model improvement, and deeper integration with HR systems can further enhance its effectiveness. These improvements will help evolve the chatbot into a more adaptive, intelligent, and widely usable enterprise solution.</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BC40D5BC-170A-2B0E-3BF1-9D2C9EB8ACAB}"/>
              </a:ext>
            </a:extLst>
          </p:cNvPr>
          <p:cNvSpPr>
            <a:spLocks noGrp="1"/>
          </p:cNvSpPr>
          <p:nvPr>
            <p:ph type="ftr" sz="quarter" idx="11"/>
          </p:nvPr>
        </p:nvSpPr>
        <p:spPr/>
        <p:txBody>
          <a:bodyPr/>
          <a:lstStyle/>
          <a:p>
            <a:r>
              <a:rPr lang="en-US"/>
              <a:t>Capstone Project Review, AY 25-26, STME, NMIMS Navi Mumbai</a:t>
            </a:r>
            <a:endParaRPr lang="en-IN" dirty="0"/>
          </a:p>
        </p:txBody>
      </p:sp>
      <p:sp>
        <p:nvSpPr>
          <p:cNvPr id="4" name="Slide Number Placeholder 3">
            <a:extLst>
              <a:ext uri="{FF2B5EF4-FFF2-40B4-BE49-F238E27FC236}">
                <a16:creationId xmlns:a16="http://schemas.microsoft.com/office/drawing/2014/main" id="{02A37021-A4FA-FB64-7F48-6038DD2F62E0}"/>
              </a:ext>
            </a:extLst>
          </p:cNvPr>
          <p:cNvSpPr>
            <a:spLocks noGrp="1"/>
          </p:cNvSpPr>
          <p:nvPr>
            <p:ph type="sldNum" sz="quarter" idx="12"/>
          </p:nvPr>
        </p:nvSpPr>
        <p:spPr/>
        <p:txBody>
          <a:bodyPr/>
          <a:lstStyle/>
          <a:p>
            <a:fld id="{81B41890-78B1-446D-ACB8-09DB24EB6BC7}" type="slidenum">
              <a:rPr lang="en-IN" smtClean="0"/>
              <a:pPr/>
              <a:t>13</a:t>
            </a:fld>
            <a:endParaRPr lang="en-IN" dirty="0"/>
          </a:p>
        </p:txBody>
      </p:sp>
    </p:spTree>
    <p:extLst>
      <p:ext uri="{BB962C8B-B14F-4D97-AF65-F5344CB8AC3E}">
        <p14:creationId xmlns:p14="http://schemas.microsoft.com/office/powerpoint/2010/main" val="3964199334"/>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0C3C3C5-C4F8-49B3-876C-9D28B7609524}"/>
              </a:ext>
            </a:extLst>
          </p:cNvPr>
          <p:cNvSpPr>
            <a:spLocks noGrp="1"/>
          </p:cNvSpPr>
          <p:nvPr>
            <p:ph type="sldNum" sz="quarter" idx="12"/>
          </p:nvPr>
        </p:nvSpPr>
        <p:spPr/>
        <p:txBody>
          <a:bodyPr/>
          <a:lstStyle/>
          <a:p>
            <a:fld id="{81B41890-78B1-446D-ACB8-09DB24EB6BC7}" type="slidenum">
              <a:rPr lang="en-IN" smtClean="0"/>
              <a:pPr/>
              <a:t>14</a:t>
            </a:fld>
            <a:endParaRPr lang="en-IN" dirty="0"/>
          </a:p>
        </p:txBody>
      </p:sp>
      <p:sp>
        <p:nvSpPr>
          <p:cNvPr id="6" name="TextBox 5">
            <a:extLst>
              <a:ext uri="{FF2B5EF4-FFF2-40B4-BE49-F238E27FC236}">
                <a16:creationId xmlns:a16="http://schemas.microsoft.com/office/drawing/2014/main" id="{59EBDCC0-4001-BCC2-38CC-27FE1A4E9D9B}"/>
              </a:ext>
            </a:extLst>
          </p:cNvPr>
          <p:cNvSpPr txBox="1"/>
          <p:nvPr/>
        </p:nvSpPr>
        <p:spPr>
          <a:xfrm>
            <a:off x="514350" y="1143000"/>
            <a:ext cx="10668000" cy="707886"/>
          </a:xfrm>
          <a:prstGeom prst="rect">
            <a:avLst/>
          </a:prstGeom>
          <a:noFill/>
        </p:spPr>
        <p:txBody>
          <a:bodyPr wrap="square" rtlCol="0">
            <a:spAutoFit/>
          </a:bodyPr>
          <a:lstStyle/>
          <a:p>
            <a:pPr algn="ctr"/>
            <a:r>
              <a:rPr lang="en-IN" sz="4000" b="1" dirty="0">
                <a:latin typeface="Times New Roman" panose="02020603050405020304" pitchFamily="18" charset="0"/>
                <a:cs typeface="Times New Roman" panose="02020603050405020304" pitchFamily="18" charset="0"/>
              </a:rPr>
              <a:t>Gantt Chart</a:t>
            </a:r>
          </a:p>
        </p:txBody>
      </p:sp>
      <p:pic>
        <p:nvPicPr>
          <p:cNvPr id="3076" name="Picture 4">
            <a:extLst>
              <a:ext uri="{FF2B5EF4-FFF2-40B4-BE49-F238E27FC236}">
                <a16:creationId xmlns:a16="http://schemas.microsoft.com/office/drawing/2014/main" id="{B90728D1-04D5-8255-9492-07311F4B834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284" b="2212"/>
          <a:stretch>
            <a:fillRect/>
          </a:stretch>
        </p:blipFill>
        <p:spPr bwMode="auto">
          <a:xfrm>
            <a:off x="152399" y="2133600"/>
            <a:ext cx="7151601" cy="3886200"/>
          </a:xfrm>
          <a:prstGeom prst="rect">
            <a:avLst/>
          </a:prstGeom>
          <a:noFill/>
          <a:extLst>
            <a:ext uri="{909E8E84-426E-40DD-AFC4-6F175D3DCCD1}">
              <a14:hiddenFill xmlns:a14="http://schemas.microsoft.com/office/drawing/2010/main">
                <a:solidFill>
                  <a:srgbClr val="FFFFFF"/>
                </a:solidFill>
              </a14:hiddenFill>
            </a:ext>
          </a:extLst>
        </p:spPr>
      </p:pic>
      <p:sp>
        <p:nvSpPr>
          <p:cNvPr id="15" name="Content Placeholder 2">
            <a:extLst>
              <a:ext uri="{FF2B5EF4-FFF2-40B4-BE49-F238E27FC236}">
                <a16:creationId xmlns:a16="http://schemas.microsoft.com/office/drawing/2014/main" id="{3112EB2D-41AB-FE9E-CF95-8FCA0889603D}"/>
              </a:ext>
            </a:extLst>
          </p:cNvPr>
          <p:cNvSpPr txBox="1">
            <a:spLocks/>
          </p:cNvSpPr>
          <p:nvPr/>
        </p:nvSpPr>
        <p:spPr>
          <a:xfrm>
            <a:off x="7315200" y="2209800"/>
            <a:ext cx="4724400" cy="4343400"/>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dirty="0">
                <a:latin typeface="Times New Roman" panose="02020603050405020304" pitchFamily="18" charset="0"/>
                <a:cs typeface="Times New Roman" panose="02020603050405020304" pitchFamily="18" charset="0"/>
              </a:rPr>
              <a:t>Initial Phase (Weeks 3–15 | AI Chatbot Focus)</a:t>
            </a:r>
          </a:p>
          <a:p>
            <a:r>
              <a:rPr lang="en-US" sz="1600" dirty="0">
                <a:latin typeface="Times New Roman" panose="02020603050405020304" pitchFamily="18" charset="0"/>
                <a:cs typeface="Times New Roman" panose="02020603050405020304" pitchFamily="18" charset="0"/>
              </a:rPr>
              <a:t>Design and finalize RAG-based chatbot architecture and data pipelines.</a:t>
            </a:r>
          </a:p>
          <a:p>
            <a:r>
              <a:rPr lang="en-US" sz="1600" dirty="0">
                <a:latin typeface="Times New Roman" panose="02020603050405020304" pitchFamily="18" charset="0"/>
                <a:cs typeface="Times New Roman" panose="02020603050405020304" pitchFamily="18" charset="0"/>
              </a:rPr>
              <a:t>Complete document ingestion, embedding, and Chroma vector database setup.</a:t>
            </a:r>
          </a:p>
          <a:p>
            <a:r>
              <a:rPr lang="en-US" sz="1600" dirty="0">
                <a:latin typeface="Times New Roman" panose="02020603050405020304" pitchFamily="18" charset="0"/>
                <a:cs typeface="Times New Roman" panose="02020603050405020304" pitchFamily="18" charset="0"/>
              </a:rPr>
              <a:t>Implement agent tooling, integrate chatbot with LMS, and perform testing &amp; deployment.</a:t>
            </a:r>
          </a:p>
          <a:p>
            <a:pPr marL="0" indent="0">
              <a:buFont typeface="Arial" panose="020B0604020202020204" pitchFamily="34" charset="0"/>
              <a:buNone/>
            </a:pPr>
            <a:endParaRPr lang="en-US" sz="16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sz="1600" b="1" dirty="0">
                <a:latin typeface="Times New Roman" panose="02020603050405020304" pitchFamily="18" charset="0"/>
                <a:cs typeface="Times New Roman" panose="02020603050405020304" pitchFamily="18" charset="0"/>
              </a:rPr>
              <a:t>Long Term (Weeks 16–30 | Other Projects &amp; Enhancements)</a:t>
            </a:r>
          </a:p>
          <a:p>
            <a:r>
              <a:rPr lang="en-US" sz="1600" dirty="0">
                <a:latin typeface="Times New Roman" panose="02020603050405020304" pitchFamily="18" charset="0"/>
                <a:cs typeface="Times New Roman" panose="02020603050405020304" pitchFamily="18" charset="0"/>
              </a:rPr>
              <a:t>Contribute to additional AI and software development projects within the organization.</a:t>
            </a:r>
          </a:p>
          <a:p>
            <a:r>
              <a:rPr lang="en-US" sz="1600" dirty="0">
                <a:latin typeface="Times New Roman" panose="02020603050405020304" pitchFamily="18" charset="0"/>
                <a:cs typeface="Times New Roman" panose="02020603050405020304" pitchFamily="18" charset="0"/>
              </a:rPr>
              <a:t>Work on enhancement, optimization, and maintenance of deployed chatbot systems.</a:t>
            </a:r>
          </a:p>
          <a:p>
            <a:r>
              <a:rPr lang="en-US" sz="1600" dirty="0">
                <a:latin typeface="Times New Roman" panose="02020603050405020304" pitchFamily="18" charset="0"/>
                <a:cs typeface="Times New Roman" panose="02020603050405020304" pitchFamily="18" charset="0"/>
              </a:rPr>
              <a:t>Gain exposure to broader enterprise applications, APIs, and system integrations.</a:t>
            </a: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819659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STM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ME PPT Template" id="{0F0D7AA8-361A-4F37-8516-0EFE3419025B}" vid="{8744BC16-5615-46D5-8B96-B46A569913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EA472A6CF934448B7C0EB40DD4CDD91" ma:contentTypeVersion="0" ma:contentTypeDescription="Create a new document." ma:contentTypeScope="" ma:versionID="094d811322c72746d9202d7e84839d29">
  <xsd:schema xmlns:xsd="http://www.w3.org/2001/XMLSchema" xmlns:xs="http://www.w3.org/2001/XMLSchema" xmlns:p="http://schemas.microsoft.com/office/2006/metadata/properties" targetNamespace="http://schemas.microsoft.com/office/2006/metadata/properties" ma:root="true" ma:fieldsID="b84c390a07b92f3072bc78982b6f0c3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2FA6F0C-50AA-4A45-946A-10E87B5CDEEB}">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8EA3136A-E4D5-484C-AF77-CDF8CEAD87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4DAC6DA9-A218-441D-8422-22EC92C650A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STME PPT Template</Template>
  <TotalTime>2517</TotalTime>
  <Words>1572</Words>
  <Application>Microsoft Office PowerPoint</Application>
  <PresentationFormat>Widescreen</PresentationFormat>
  <Paragraphs>79</Paragraphs>
  <Slides>14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Narrow</vt:lpstr>
      <vt:lpstr>Calibri</vt:lpstr>
      <vt:lpstr>Calibri Light</vt:lpstr>
      <vt:lpstr>Times New Roman</vt:lpstr>
      <vt:lpstr>STME Theme</vt:lpstr>
      <vt:lpstr>PowerPoint Presentation</vt:lpstr>
      <vt:lpstr>Project Recap &amp; Evolution The project evolved through three structured phases, starting from a conceptual RAG-based design to a fully functional AI chatbot system integrated with voice and vision capabilities. Each review phase focused on enhancing system scalability, usability, and real-world applicability, ultimately transforming the solution into a production-ready enterprise-grade platform.  Project Phases Review 1: RAG architecture design and foundational system planning  Review 2: Backend development using FastAPI Review 3: Full system integration with Voice, Vision AI,  and React frontend implementation and MongoDB   Key Transition: Review 1 → Review 2 Transition from Langflow to direct FastAPI-based architecture  Development of MCP V3 Server with structured APIs  Replacement of basic UI with React production frontend  Implementation of role-based SOP routing  Introduction of real-time evaluation system   Key Transition: Review 2 → Review 3 Migration from SQLite to MongoDB for scalability  Integration of multi-format file upload (12 types supported)  Implementation of Vision AI for image understanding  Addition of voice interaction using Web Speech API  UI redesign aligned with enterprise (Jio) standards  Introduction of OCR and document ingestion pipeline  </vt:lpstr>
      <vt:lpstr>PowerPoint Presentation</vt:lpstr>
      <vt:lpstr>Objectives: Technical &amp; Business Outcomes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The AI Chatbot System for the LMS portal was successfully developed as a scalable and production-ready solution that integrates advanced AI capabilities with a robust microservices architecture. The project achieved its goal of delivering accurate and context-aware responses using a RAG-based approach, ensuring that all outputs are grounded in relevant SOP data. The system was enhanced with multi-modal interaction features, including voice and image processing, which significantly improved user experience and accessibility.   With the implementation of MongoDB and multiple independent services, the platform demonstrates strong performance, flexibility, and readiness for real-world enterprise deployment. Overall, the project highlights the practical application of AI in improving knowledge management and user engagement within an organizational ecosystem.   Future Scope The future scope of this system focuses on expanding its capabilities to make it more intelligent, accessible, and enterprise-integrated. Enhancements can include multi-language support to cater to a diverse user base, integration of vector databases like ChromaDB for improved semantic search and retrieval accuracy, and implementation of Single Sign-On (SSO) for seamless enterprise authentication. The system can also be extended into a mobile application using React Native to increase accessibility across devices. Additional features such as text-to-speech for voice responses, continuous learning through feedback-based model improvement, and deeper integration with HR systems can further enhance its effectiveness. These improvements will help evolve the chatbot into a more adaptive, intelligent, and widely usable enterprise solution.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Electrostatics</dc:title>
  <dc:creator>Divyang Jadav</dc:creator>
  <cp:lastModifiedBy>JATIN VERMA - 70022200370</cp:lastModifiedBy>
  <cp:revision>287</cp:revision>
  <cp:lastPrinted>2019-07-19T07:29:11Z</cp:lastPrinted>
  <dcterms:created xsi:type="dcterms:W3CDTF">2019-09-30T10:49:12Z</dcterms:created>
  <dcterms:modified xsi:type="dcterms:W3CDTF">2026-05-07T14:55:15Z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0x010100AEA472A6CF934448B7C0EB40DD4CDD91</vt:lpwstr>
  </property>
</Properties>
</file>